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4"/>
  </p:sldMasterIdLst>
  <p:notesMasterIdLst>
    <p:notesMasterId r:id="rId13"/>
  </p:notesMasterIdLst>
  <p:handoutMasterIdLst>
    <p:handoutMasterId r:id="rId14"/>
  </p:handoutMasterIdLst>
  <p:sldIdLst>
    <p:sldId id="782" r:id="rId5"/>
    <p:sldId id="783" r:id="rId6"/>
    <p:sldId id="816" r:id="rId7"/>
    <p:sldId id="824" r:id="rId8"/>
    <p:sldId id="815" r:id="rId9"/>
    <p:sldId id="814" r:id="rId10"/>
    <p:sldId id="818" r:id="rId11"/>
    <p:sldId id="817" r:id="rId12"/>
  </p:sldIdLst>
  <p:sldSz cx="9144000" cy="6858000" type="screen4x3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orient="horz" pos="3864" userDrawn="1">
          <p15:clr>
            <a:srgbClr val="A4A3A4"/>
          </p15:clr>
        </p15:guide>
        <p15:guide id="4" pos="4248" userDrawn="1">
          <p15:clr>
            <a:srgbClr val="A4A3A4"/>
          </p15:clr>
        </p15:guide>
        <p15:guide id="5" orient="horz" pos="3360" userDrawn="1">
          <p15:clr>
            <a:srgbClr val="A4A3A4"/>
          </p15:clr>
        </p15:guide>
        <p15:guide id="6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FB861B-CAC2-A513-D8B3-935E852EE56B}" name="Vea Cariquitan" initials="VC" userId="S::vea.cariquitan@metpower.com.ph::5a539660-d9ea-4cc4-9218-fa3ec7e3061e" providerId="AD"/>
  <p188:author id="{47840EE4-FBC7-E471-6B24-F863C0F1C9CB}" name="Kim Butardo" initials="KB" userId="S::kim.butardo@metpower.com.ph::28df9d1b-b644-44c9-9f4f-be4243ddbc3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Butardo" initials="KB" lastIdx="1" clrIdx="0">
    <p:extLst>
      <p:ext uri="{19B8F6BF-5375-455C-9EA6-DF929625EA0E}">
        <p15:presenceInfo xmlns:p15="http://schemas.microsoft.com/office/powerpoint/2012/main" userId="f1685114df2ea7fc" providerId="Windows Live"/>
      </p:ext>
    </p:extLst>
  </p:cmAuthor>
  <p:cmAuthor id="2" name="Trishia Anne Manipon" initials="TAM" lastIdx="1" clrIdx="1">
    <p:extLst>
      <p:ext uri="{19B8F6BF-5375-455C-9EA6-DF929625EA0E}">
        <p15:presenceInfo xmlns:p15="http://schemas.microsoft.com/office/powerpoint/2012/main" userId="S::trishia.manipon@metpower.com.ph::8bcbfdc4-7fcc-475c-a05e-de4d7a9d34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DD6E9"/>
    <a:srgbClr val="133595"/>
    <a:srgbClr val="13A907"/>
    <a:srgbClr val="B7E4FF"/>
    <a:srgbClr val="00B050"/>
    <a:srgbClr val="F7941E"/>
    <a:srgbClr val="00558A"/>
    <a:srgbClr val="D0D6DE"/>
    <a:srgbClr val="6D0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A84BA-80E1-4F3D-B18F-72382C8A5EDB}" v="212" dt="2024-12-10T19:34:35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870" autoAdjust="0"/>
  </p:normalViewPr>
  <p:slideViewPr>
    <p:cSldViewPr snapToGrid="0">
      <p:cViewPr varScale="1">
        <p:scale>
          <a:sx n="82" d="100"/>
          <a:sy n="82" d="100"/>
        </p:scale>
        <p:origin x="1613" y="72"/>
      </p:cViewPr>
      <p:guideLst>
        <p:guide orient="horz" pos="1440"/>
        <p:guide pos="264"/>
        <p:guide orient="horz" pos="3864"/>
        <p:guide pos="4248"/>
        <p:guide orient="horz" pos="3360"/>
        <p:guide pos="6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8"/>
    </p:cViewPr>
  </p:sorterViewPr>
  <p:notesViewPr>
    <p:cSldViewPr snapToGrid="0">
      <p:cViewPr varScale="1">
        <p:scale>
          <a:sx n="50" d="100"/>
          <a:sy n="50" d="100"/>
        </p:scale>
        <p:origin x="290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ylDolor\Desktop\SBVC\Dashboard%20Report\2025_Pol_Monthly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ylDolor\Desktop\SBVC\Dashboard%20Report\2025_Pol_Monthly%20Repor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ylDolor\Desktop\SBVC\Dashboard%20Report\2025_Pol_Monthly%20Repor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ylDolor\Desktop\SBVC\Dashboard%20Report\2025_Pol_Monthly%20Repor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037413340212502"/>
          <c:y val="0.11640982453860035"/>
          <c:w val="0.74370088205263363"/>
          <c:h val="0.458229644212048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Oct!$B$36:$C$36</c:f>
              <c:strCache>
                <c:ptCount val="2"/>
                <c:pt idx="0">
                  <c:v>Delivered (DPO)</c:v>
                </c:pt>
                <c:pt idx="1">
                  <c:v>(mtons)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Oct!$D$34:$H$34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Oct!$D$36:$H$36</c:f>
              <c:numCache>
                <c:formatCode>_-* #,##0_-;\-* #,##0_-;_-* "-"??_-;_-@_-</c:formatCode>
                <c:ptCount val="5"/>
                <c:pt idx="0">
                  <c:v>1038.26</c:v>
                </c:pt>
                <c:pt idx="1">
                  <c:v>1866.1</c:v>
                </c:pt>
                <c:pt idx="2">
                  <c:v>905.65</c:v>
                </c:pt>
                <c:pt idx="3">
                  <c:v>757.79</c:v>
                </c:pt>
                <c:pt idx="4">
                  <c:v>1421.07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A3-4223-91CC-C78D5342A961}"/>
            </c:ext>
          </c:extLst>
        </c:ser>
        <c:ser>
          <c:idx val="2"/>
          <c:order val="1"/>
          <c:tx>
            <c:strRef>
              <c:f>'Mar actual FM vol'!$B$37:$C$37</c:f>
              <c:strCache>
                <c:ptCount val="2"/>
                <c:pt idx="0">
                  <c:v>Total Available </c:v>
                </c:pt>
                <c:pt idx="1">
                  <c:v>(mtons)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Jul!$D$34:$H$34</c:f>
              <c:strCache>
                <c:ptCount val="5"/>
                <c:pt idx="0">
                  <c:v>WEEK 1
(Jul1-5)</c:v>
                </c:pt>
                <c:pt idx="1">
                  <c:v>WEEK 2
(Jul6-12)</c:v>
                </c:pt>
                <c:pt idx="2">
                  <c:v>WEEK 3
(Jul13-19)</c:v>
                </c:pt>
                <c:pt idx="3">
                  <c:v>WEEK 4
(Jul20-26)</c:v>
                </c:pt>
                <c:pt idx="4">
                  <c:v>WEEK 5
(Jul27-31)</c:v>
                </c:pt>
              </c:strCache>
            </c:strRef>
          </c:cat>
          <c:val>
            <c:numRef>
              <c:f>'Mar actual FM vol'!$D$37:$H$37</c:f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46A3-4223-91CC-C78D5342A961}"/>
            </c:ext>
          </c:extLst>
        </c:ser>
        <c:ser>
          <c:idx val="5"/>
          <c:order val="4"/>
          <c:tx>
            <c:strRef>
              <c:f>Oct!$B$37</c:f>
              <c:strCache>
                <c:ptCount val="1"/>
                <c:pt idx="0">
                  <c:v>Diverted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Oct!$D$34:$H$34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Oct!$D$37:$H$37</c:f>
              <c:numCache>
                <c:formatCode>_-* #,##0.0_-;\-* #,##0.0_-;_-* "-"??_-;_-@_-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6A3-4223-91CC-C78D5342A9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"/>
        <c:axId val="1931926304"/>
        <c:axId val="1732677184"/>
        <c:extLst>
          <c:ext xmlns:c15="http://schemas.microsoft.com/office/drawing/2012/chart" uri="{02D57815-91ED-43cb-92C2-25804820EDAC}">
            <c15:filteredBar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Oct!$B$40:$C$40</c15:sqref>
                        </c15:formulaRef>
                      </c:ext>
                    </c:extLst>
                    <c:strCache>
                      <c:ptCount val="2"/>
                      <c:pt idx="0">
                        <c:v>Monthly Accumulative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4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4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Oct!$D$34:$H$34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Oct!$D$40:$H$40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"/>
                      <c:pt idx="0">
                        <c:v>1038.26</c:v>
                      </c:pt>
                      <c:pt idx="1">
                        <c:v>2904.3599999999997</c:v>
                      </c:pt>
                      <c:pt idx="2">
                        <c:v>3810.0099999999998</c:v>
                      </c:pt>
                      <c:pt idx="3">
                        <c:v>4567.7999999999993</c:v>
                      </c:pt>
                      <c:pt idx="4">
                        <c:v>5988.869999999999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46A3-4223-91CC-C78D5342A961}"/>
                  </c:ext>
                </c:extLst>
              </c15:ser>
            </c15:filteredBarSeries>
          </c:ext>
        </c:extLst>
      </c:barChart>
      <c:lineChart>
        <c:grouping val="stacked"/>
        <c:varyColors val="0"/>
        <c:ser>
          <c:idx val="4"/>
          <c:order val="3"/>
          <c:tx>
            <c:strRef>
              <c:f>Oct!$B$41:$C$41</c:f>
              <c:strCache>
                <c:ptCount val="2"/>
                <c:pt idx="0">
                  <c:v>Target to Reach SCA Minimum</c:v>
                </c:pt>
                <c:pt idx="1">
                  <c:v>(mtons)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Oct!$D$34:$H$34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Oct!$D$41:$H$41</c:f>
              <c:numCache>
                <c:formatCode>_-* #,##0_-;\-* #,##0_-;_-* "-"??_-;_-@_-</c:formatCode>
                <c:ptCount val="5"/>
                <c:pt idx="0">
                  <c:v>2177.16688172043</c:v>
                </c:pt>
                <c:pt idx="1">
                  <c:v>4948.9489247311822</c:v>
                </c:pt>
                <c:pt idx="2">
                  <c:v>6892.8909677419351</c:v>
                </c:pt>
                <c:pt idx="3">
                  <c:v>9797.2830107526879</c:v>
                </c:pt>
                <c:pt idx="4">
                  <c:v>12305.243333333332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6A3-4223-91CC-C78D5342A961}"/>
            </c:ext>
          </c:extLst>
        </c:ser>
        <c:ser>
          <c:idx val="6"/>
          <c:order val="5"/>
          <c:tx>
            <c:strRef>
              <c:f>'Mar actual FM vol'!$B$37:$C$37</c:f>
              <c:strCache>
                <c:ptCount val="2"/>
                <c:pt idx="0">
                  <c:v>Total Available </c:v>
                </c:pt>
                <c:pt idx="1">
                  <c:v>(mtons)</c:v>
                </c:pt>
              </c:strCache>
            </c:strRef>
          </c:tx>
          <c:spPr>
            <a:ln w="34925" cap="rnd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>
                    <a:lumMod val="6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Jul!$D$34:$H$34</c:f>
              <c:strCache>
                <c:ptCount val="5"/>
                <c:pt idx="0">
                  <c:v>WEEK 1
(Jul1-5)</c:v>
                </c:pt>
                <c:pt idx="1">
                  <c:v>WEEK 2
(Jul6-12)</c:v>
                </c:pt>
                <c:pt idx="2">
                  <c:v>WEEK 3
(Jul13-19)</c:v>
                </c:pt>
                <c:pt idx="3">
                  <c:v>WEEK 4
(Jul20-26)</c:v>
                </c:pt>
                <c:pt idx="4">
                  <c:v>WEEK 5
(Jul27-31)</c:v>
                </c:pt>
              </c:strCache>
            </c:strRef>
          </c:cat>
          <c:val>
            <c:numRef>
              <c:f>'Mar actual FM vol'!$D$37:$H$37</c:f>
            </c:numRef>
          </c:val>
          <c:smooth val="0"/>
          <c:extLst>
            <c:ext xmlns:c16="http://schemas.microsoft.com/office/drawing/2014/chart" uri="{C3380CC4-5D6E-409C-BE32-E72D297353CC}">
              <c16:uniqueId val="{00000004-46A3-4223-91CC-C78D5342A9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269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marker val="1"/>
        <c:smooth val="0"/>
        <c:axId val="1931926304"/>
        <c:axId val="1732677184"/>
      </c:lineChart>
      <c:catAx>
        <c:axId val="193192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677184"/>
        <c:crosses val="autoZero"/>
        <c:auto val="1"/>
        <c:lblAlgn val="ctr"/>
        <c:lblOffset val="100"/>
        <c:noMultiLvlLbl val="1"/>
      </c:catAx>
      <c:valAx>
        <c:axId val="173267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/>
                  <a:t>MT</a:t>
                </a:r>
              </a:p>
            </c:rich>
          </c:tx>
          <c:layout>
            <c:manualLayout>
              <c:xMode val="edge"/>
              <c:yMode val="edge"/>
              <c:x val="0.19272070118622903"/>
              <c:y val="0.243594592309569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92630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/>
              <a:t>Biogas Conversion (Yield) - Factoring the DS Content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794307296004804"/>
          <c:y val="7.2393844182113795E-2"/>
          <c:w val="0.64755261890531735"/>
          <c:h val="0.5956844403898468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Oct!$B$174:$C$174</c:f>
              <c:strCache>
                <c:ptCount val="2"/>
                <c:pt idx="0">
                  <c:v>Actual Gas Produced</c:v>
                </c:pt>
                <c:pt idx="1">
                  <c:v>(Nm3)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Oct!$D$128:$H$128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Oct!$D$174:$H$174</c:f>
              <c:numCache>
                <c:formatCode>_-* #,##0_-;\-* #,##0_-;_-* "-"??_-;_-@_-</c:formatCode>
                <c:ptCount val="5"/>
                <c:pt idx="0">
                  <c:v>77966</c:v>
                </c:pt>
                <c:pt idx="1">
                  <c:v>156388.70000000001</c:v>
                </c:pt>
                <c:pt idx="2">
                  <c:v>89093.42</c:v>
                </c:pt>
                <c:pt idx="3">
                  <c:v>95894.09</c:v>
                </c:pt>
                <c:pt idx="4">
                  <c:v>180584.66999999998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D3-4A64-A41D-CE52EE8D85AC}"/>
            </c:ext>
          </c:extLst>
        </c:ser>
        <c:ser>
          <c:idx val="1"/>
          <c:order val="1"/>
          <c:tx>
            <c:strRef>
              <c:f>Oct!$B$173:$C$173</c:f>
              <c:strCache>
                <c:ptCount val="2"/>
                <c:pt idx="0">
                  <c:v>SCA Gas Equivalent</c:v>
                </c:pt>
                <c:pt idx="1">
                  <c:v>(Nm3)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Oct!$D$128:$H$128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Oct!$D$173:$H$173</c:f>
              <c:numCache>
                <c:formatCode>_-* #,##0_-;\-* #,##0_-;_-* "-"??_-;_-@_-</c:formatCode>
                <c:ptCount val="5"/>
                <c:pt idx="0">
                  <c:v>104721.94421857143</c:v>
                </c:pt>
                <c:pt idx="1">
                  <c:v>187129.84214285715</c:v>
                </c:pt>
                <c:pt idx="2">
                  <c:v>91470.65</c:v>
                </c:pt>
                <c:pt idx="3">
                  <c:v>76476.653950714288</c:v>
                </c:pt>
                <c:pt idx="4">
                  <c:v>143076.98178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D3-4A64-A41D-CE52EE8D8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22406128"/>
        <c:axId val="72504371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Oct!$B$130:$C$130</c15:sqref>
                        </c15:formulaRef>
                      </c:ext>
                    </c:extLst>
                    <c:strCache>
                      <c:ptCount val="2"/>
                      <c:pt idx="0">
                        <c:v>Available Substrate</c:v>
                      </c:pt>
                      <c:pt idx="1">
                        <c:v>(Nm3)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Oct!$D$128:$H$128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Oct!$D$130:$G$130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4"/>
                      <c:pt idx="0">
                        <c:v>1038.26</c:v>
                      </c:pt>
                      <c:pt idx="1">
                        <c:v>1866.1</c:v>
                      </c:pt>
                      <c:pt idx="2">
                        <c:v>905.65</c:v>
                      </c:pt>
                      <c:pt idx="3">
                        <c:v>757.79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0AD3-4A64-A41D-CE52EE8D85A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3"/>
          <c:order val="3"/>
          <c:tx>
            <c:strRef>
              <c:f>Oct!$B$176:$C$176</c:f>
              <c:strCache>
                <c:ptCount val="2"/>
                <c:pt idx="0">
                  <c:v>Actual Yield</c:v>
                </c:pt>
                <c:pt idx="1">
                  <c:v>(Nm3/ton)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2.0278921618298227E-2"/>
                  <c:y val="-3.1348240859611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D3-4A64-A41D-CE52EE8D85AC}"/>
                </c:ext>
              </c:extLst>
            </c:dLbl>
            <c:dLbl>
              <c:idx val="1"/>
              <c:layout>
                <c:manualLayout>
                  <c:x val="-1.3075589999027718E-3"/>
                  <c:y val="-2.41462297057985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3-4A64-A41D-CE52EE8D85AC}"/>
                </c:ext>
              </c:extLst>
            </c:dLbl>
            <c:dLbl>
              <c:idx val="2"/>
              <c:layout>
                <c:manualLayout>
                  <c:x val="-2.4536084465953872E-2"/>
                  <c:y val="-2.61025456661809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AD3-4A64-A41D-CE52EE8D85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Oct!$D$128:$H$128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Oct!$D$176:$H$176</c:f>
              <c:numCache>
                <c:formatCode>_-* #,##0_-;\-* #,##0_-;_-* "-"??_-;_-@_-</c:formatCode>
                <c:ptCount val="5"/>
                <c:pt idx="0">
                  <c:v>75.194994313364944</c:v>
                </c:pt>
                <c:pt idx="1">
                  <c:v>84.408015948315253</c:v>
                </c:pt>
                <c:pt idx="2">
                  <c:v>98.375111798156027</c:v>
                </c:pt>
                <c:pt idx="3">
                  <c:v>126.64391797582745</c:v>
                </c:pt>
                <c:pt idx="4">
                  <c:v>127.47719055218107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AD3-4A64-A41D-CE52EE8D85AC}"/>
            </c:ext>
          </c:extLst>
        </c:ser>
        <c:ser>
          <c:idx val="4"/>
          <c:order val="4"/>
          <c:tx>
            <c:strRef>
              <c:f>Oct!$B$177:$C$177</c:f>
              <c:strCache>
                <c:ptCount val="2"/>
                <c:pt idx="0">
                  <c:v>Target Yield</c:v>
                </c:pt>
                <c:pt idx="1">
                  <c:v>(Nm3/ton)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Oct!$D$128:$H$128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Oct!$D$177:$H$177</c:f>
              <c:numCache>
                <c:formatCode>_-* #,##0_-;\-* #,##0_-;_-* "-"??_-;_-@_-</c:formatCode>
                <c:ptCount val="5"/>
                <c:pt idx="0">
                  <c:v>101</c:v>
                </c:pt>
                <c:pt idx="1">
                  <c:v>101</c:v>
                </c:pt>
                <c:pt idx="2">
                  <c:v>101</c:v>
                </c:pt>
                <c:pt idx="3">
                  <c:v>101</c:v>
                </c:pt>
                <c:pt idx="4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AD3-4A64-A41D-CE52EE8D85AC}"/>
            </c:ext>
          </c:extLst>
        </c:ser>
        <c:ser>
          <c:idx val="5"/>
          <c:order val="5"/>
          <c:tx>
            <c:strRef>
              <c:f>Oct!$B$175</c:f>
              <c:strCache>
                <c:ptCount val="1"/>
                <c:pt idx="0">
                  <c:v>%DS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6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Oct!$D$128:$H$128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Oct!$D$175:$H$175</c:f>
              <c:numCache>
                <c:formatCode>_(* #,##0.00_);_(* \(#,##0.00\);_(* "-"??_);_(@_)</c:formatCode>
                <c:ptCount val="5"/>
                <c:pt idx="0">
                  <c:v>13.981</c:v>
                </c:pt>
                <c:pt idx="1">
                  <c:v>13.9</c:v>
                </c:pt>
                <c:pt idx="2">
                  <c:v>14</c:v>
                </c:pt>
                <c:pt idx="3">
                  <c:v>13.989000000000001</c:v>
                </c:pt>
                <c:pt idx="4">
                  <c:v>13.956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AD3-4A64-A41D-CE52EE8D8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7073440"/>
        <c:axId val="305566736"/>
      </c:lineChart>
      <c:catAx>
        <c:axId val="62240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5043712"/>
        <c:crosses val="autoZero"/>
        <c:auto val="1"/>
        <c:lblAlgn val="ctr"/>
        <c:lblOffset val="100"/>
        <c:noMultiLvlLbl val="1"/>
      </c:catAx>
      <c:valAx>
        <c:axId val="72504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/>
                  <a:t>Nm3</a:t>
                </a:r>
              </a:p>
            </c:rich>
          </c:tx>
          <c:layout>
            <c:manualLayout>
              <c:xMode val="edge"/>
              <c:yMode val="edge"/>
              <c:x val="0.1338963604146387"/>
              <c:y val="0.385830794079064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406128"/>
        <c:crosses val="autoZero"/>
        <c:crossBetween val="between"/>
      </c:valAx>
      <c:valAx>
        <c:axId val="3055667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/>
                  <a:t>Nm3/ton</a:t>
                </a:r>
              </a:p>
            </c:rich>
          </c:tx>
          <c:layout>
            <c:manualLayout>
              <c:xMode val="edge"/>
              <c:yMode val="edge"/>
              <c:x val="0.95544679367650542"/>
              <c:y val="0.412100607226448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073440"/>
        <c:crosses val="max"/>
        <c:crossBetween val="between"/>
      </c:valAx>
      <c:catAx>
        <c:axId val="617073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5566736"/>
        <c:crossesAt val="50"/>
        <c:auto val="1"/>
        <c:lblAlgn val="ctr"/>
        <c:lblOffset val="100"/>
        <c:tickLblSkip val="1"/>
        <c:tickMarkSkip val="1"/>
        <c:noMultiLvlLbl val="1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/>
              <a:t>Monthly vs. YTD Yield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'CY Yield'!$G$3</c:f>
              <c:strCache>
                <c:ptCount val="1"/>
                <c:pt idx="0">
                  <c:v>Actual Yield (Monthly)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'CY Yield'!$A$4:$A$15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'CY Yield'!$G$4:$G$15</c:f>
              <c:numCache>
                <c:formatCode>0</c:formatCode>
                <c:ptCount val="12"/>
                <c:pt idx="0">
                  <c:v>109.50237205868378</c:v>
                </c:pt>
                <c:pt idx="1">
                  <c:v>117.46556804335115</c:v>
                </c:pt>
                <c:pt idx="2">
                  <c:v>111.64678590930447</c:v>
                </c:pt>
                <c:pt idx="3">
                  <c:v>88.853199114801654</c:v>
                </c:pt>
                <c:pt idx="4">
                  <c:v>102.07902487505694</c:v>
                </c:pt>
                <c:pt idx="5">
                  <c:v>112.76914080004521</c:v>
                </c:pt>
                <c:pt idx="6">
                  <c:v>89.366155580021839</c:v>
                </c:pt>
                <c:pt idx="7">
                  <c:v>99.118614545325258</c:v>
                </c:pt>
                <c:pt idx="8">
                  <c:v>100.37460689738334</c:v>
                </c:pt>
                <c:pt idx="9">
                  <c:v>100.37942115958438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4-4D53-B1D7-EE095B713E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8514352"/>
        <c:axId val="1838516272"/>
      </c:barChart>
      <c:lineChart>
        <c:grouping val="standard"/>
        <c:varyColors val="0"/>
        <c:ser>
          <c:idx val="1"/>
          <c:order val="1"/>
          <c:tx>
            <c:strRef>
              <c:f>'CY Yield'!$H$3</c:f>
              <c:strCache>
                <c:ptCount val="1"/>
                <c:pt idx="0">
                  <c:v>YTD 2025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'CY Yield'!$A$4:$A$15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'CY Yield'!$H$4:$H$15</c:f>
              <c:numCache>
                <c:formatCode>0</c:formatCode>
                <c:ptCount val="12"/>
                <c:pt idx="0">
                  <c:v>109.50237205868378</c:v>
                </c:pt>
                <c:pt idx="1">
                  <c:v>112.82925517488013</c:v>
                </c:pt>
                <c:pt idx="2">
                  <c:v>112.50177631766068</c:v>
                </c:pt>
                <c:pt idx="3">
                  <c:v>107.36575128549589</c:v>
                </c:pt>
                <c:pt idx="4">
                  <c:v>106.27677807767004</c:v>
                </c:pt>
                <c:pt idx="5">
                  <c:v>107.31116525904525</c:v>
                </c:pt>
                <c:pt idx="6">
                  <c:v>104.97029284050188</c:v>
                </c:pt>
                <c:pt idx="7">
                  <c:v>104.19953572714439</c:v>
                </c:pt>
                <c:pt idx="8">
                  <c:v>103.80483144545381</c:v>
                </c:pt>
                <c:pt idx="9">
                  <c:v>103.51293836724946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B4-4D53-B1D7-EE095B713ED0}"/>
            </c:ext>
          </c:extLst>
        </c:ser>
        <c:ser>
          <c:idx val="3"/>
          <c:order val="2"/>
          <c:tx>
            <c:strRef>
              <c:f>'CY Yield'!$I$3</c:f>
              <c:strCache>
                <c:ptCount val="1"/>
                <c:pt idx="0">
                  <c:v>YTD CY4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'CY Yield'!$I$4:$I$15</c:f>
              <c:numCache>
                <c:formatCode>0</c:formatCode>
                <c:ptCount val="12"/>
                <c:pt idx="3">
                  <c:v>88.853199114801654</c:v>
                </c:pt>
                <c:pt idx="4">
                  <c:v>96.052158632856234</c:v>
                </c:pt>
                <c:pt idx="5">
                  <c:v>101.63045919420901</c:v>
                </c:pt>
                <c:pt idx="6">
                  <c:v>98.698322783352708</c:v>
                </c:pt>
                <c:pt idx="7">
                  <c:v>98.789753932029896</c:v>
                </c:pt>
                <c:pt idx="8">
                  <c:v>99.04284757230532</c:v>
                </c:pt>
                <c:pt idx="9">
                  <c:v>99.211247838184889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B4-4D53-B1D7-EE095B713ED0}"/>
            </c:ext>
          </c:extLst>
        </c:ser>
        <c:ser>
          <c:idx val="2"/>
          <c:order val="3"/>
          <c:tx>
            <c:strRef>
              <c:f>'CY Yield'!$J$3</c:f>
              <c:strCache>
                <c:ptCount val="1"/>
                <c:pt idx="0">
                  <c:v>Target Yield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'CY Yield'!$A$4:$A$15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'CY Yield'!$J$4:$J$15</c:f>
              <c:numCache>
                <c:formatCode>General</c:formatCode>
                <c:ptCount val="12"/>
                <c:pt idx="0">
                  <c:v>101</c:v>
                </c:pt>
                <c:pt idx="1">
                  <c:v>101</c:v>
                </c:pt>
                <c:pt idx="2">
                  <c:v>101</c:v>
                </c:pt>
                <c:pt idx="3">
                  <c:v>101</c:v>
                </c:pt>
                <c:pt idx="4">
                  <c:v>101</c:v>
                </c:pt>
                <c:pt idx="5">
                  <c:v>101</c:v>
                </c:pt>
                <c:pt idx="6">
                  <c:v>101</c:v>
                </c:pt>
                <c:pt idx="7">
                  <c:v>101</c:v>
                </c:pt>
                <c:pt idx="8">
                  <c:v>101</c:v>
                </c:pt>
                <c:pt idx="9">
                  <c:v>101</c:v>
                </c:pt>
                <c:pt idx="10">
                  <c:v>101</c:v>
                </c:pt>
                <c:pt idx="11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2B4-4D53-B1D7-EE095B713E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8514352"/>
        <c:axId val="1838516272"/>
      </c:lineChart>
      <c:dateAx>
        <c:axId val="183851435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8516272"/>
        <c:crosses val="autoZero"/>
        <c:auto val="1"/>
        <c:lblOffset val="100"/>
        <c:baseTimeUnit val="months"/>
      </c:dateAx>
      <c:valAx>
        <c:axId val="1838516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85143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279257464172775"/>
          <c:y val="0.10060281860125968"/>
          <c:w val="0.67317823439612146"/>
          <c:h val="0.34991922607897613"/>
        </c:manualLayout>
      </c:layout>
      <c:barChart>
        <c:barDir val="col"/>
        <c:grouping val="stacked"/>
        <c:varyColors val="0"/>
        <c:ser>
          <c:idx val="7"/>
          <c:order val="0"/>
          <c:tx>
            <c:strRef>
              <c:f>Oct!$B$116:$C$116</c:f>
              <c:strCache>
                <c:ptCount val="2"/>
                <c:pt idx="0">
                  <c:v>CO2 Operation</c:v>
                </c:pt>
                <c:pt idx="1">
                  <c:v>(Nm3)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Oct!$D$113:$H$113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Oct!$D$116:$H$116</c:f>
              <c:numCache>
                <c:formatCode>_-* #,##0_-;\-* #,##0_-;_-* "-"??_-;_-@_-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B9A7-4F0F-AB88-6679F29A15F8}"/>
            </c:ext>
          </c:extLst>
        </c:ser>
        <c:ser>
          <c:idx val="1"/>
          <c:order val="1"/>
          <c:tx>
            <c:strRef>
              <c:f>Oct!$B$117:$C$117</c:f>
              <c:strCache>
                <c:ptCount val="2"/>
                <c:pt idx="0">
                  <c:v>Flared</c:v>
                </c:pt>
                <c:pt idx="1">
                  <c:v>(Nm3)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Oct!$D$113:$H$113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Oct!$D$117:$H$117</c:f>
              <c:numCache>
                <c:formatCode>_-* #,##0_-;\-* #,##0_-;_-* "-"??_-;_-@_-</c:formatCode>
                <c:ptCount val="5"/>
                <c:pt idx="1">
                  <c:v>13978</c:v>
                </c:pt>
                <c:pt idx="2">
                  <c:v>36093</c:v>
                </c:pt>
                <c:pt idx="4">
                  <c:v>2102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A7-4F0F-AB88-6679F29A15F8}"/>
            </c:ext>
          </c:extLst>
        </c:ser>
        <c:ser>
          <c:idx val="0"/>
          <c:order val="2"/>
          <c:tx>
            <c:strRef>
              <c:f>Oct!$B$114:$C$114</c:f>
              <c:strCache>
                <c:ptCount val="2"/>
                <c:pt idx="0">
                  <c:v>Delivered to Boilers</c:v>
                </c:pt>
                <c:pt idx="1">
                  <c:v>(Nm3)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Oct!$D$113:$H$113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Oct!$D$114:$H$114</c:f>
              <c:numCache>
                <c:formatCode>_-* #,##0_-;\-* #,##0_-;_-* "-"??_-;_-@_-</c:formatCode>
                <c:ptCount val="5"/>
                <c:pt idx="0">
                  <c:v>77966</c:v>
                </c:pt>
                <c:pt idx="1">
                  <c:v>116791</c:v>
                </c:pt>
                <c:pt idx="2">
                  <c:v>21893</c:v>
                </c:pt>
                <c:pt idx="3">
                  <c:v>93475</c:v>
                </c:pt>
                <c:pt idx="4">
                  <c:v>141089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A7-4F0F-AB88-6679F29A1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3786448"/>
        <c:axId val="1745592720"/>
        <c:extLst/>
      </c:barChart>
      <c:lineChart>
        <c:grouping val="standard"/>
        <c:varyColors val="0"/>
        <c:ser>
          <c:idx val="4"/>
          <c:order val="5"/>
          <c:tx>
            <c:strRef>
              <c:f>Oct!$B$121:$C$121</c:f>
              <c:strCache>
                <c:ptCount val="2"/>
                <c:pt idx="0">
                  <c:v>Target to Reach SCA (Boiler)</c:v>
                </c:pt>
                <c:pt idx="1">
                  <c:v>(Nm3)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Oct!$D$113:$H$113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Oct!$D$121:$H$121</c:f>
              <c:numCache>
                <c:formatCode>_-* #,##0_-;\-* #,##0_-;_-* "-"??_-;_-@_-</c:formatCode>
                <c:ptCount val="5"/>
                <c:pt idx="0">
                  <c:v>156734.86021505378</c:v>
                </c:pt>
                <c:pt idx="1">
                  <c:v>353054.86559139786</c:v>
                </c:pt>
                <c:pt idx="2">
                  <c:v>510549.87096774206</c:v>
                </c:pt>
                <c:pt idx="3">
                  <c:v>762942.87634408614</c:v>
                </c:pt>
                <c:pt idx="4">
                  <c:v>904570.16666666674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9A7-4F0F-AB88-6679F29A1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23786448"/>
        <c:axId val="1745592720"/>
        <c:extLst>
          <c:ext xmlns:c15="http://schemas.microsoft.com/office/drawing/2012/chart" uri="{02D57815-91ED-43cb-92C2-25804820EDAC}">
            <c15:filteredLineSeries>
              <c15:ser>
                <c:idx val="2"/>
                <c:order val="3"/>
                <c:tx>
                  <c:strRef>
                    <c:extLst>
                      <c:ext uri="{02D57815-91ED-43cb-92C2-25804820EDAC}">
                        <c15:formulaRef>
                          <c15:sqref>Oct!$B$118:$C$118</c15:sqref>
                        </c15:formulaRef>
                      </c:ext>
                    </c:extLst>
                    <c:strCache>
                      <c:ptCount val="2"/>
                      <c:pt idx="0">
                        <c:v>Total Produced</c:v>
                      </c:pt>
                      <c:pt idx="1">
                        <c:v>(Nm3)</c:v>
                      </c:pt>
                    </c:strCache>
                  </c:strRef>
                </c:tx>
                <c:spPr>
                  <a:ln w="34925" cap="rnd">
                    <a:solidFill>
                      <a:schemeClr val="accent3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3">
                            <a:satMod val="103000"/>
                            <a:lumMod val="102000"/>
                            <a:tint val="94000"/>
                          </a:schemeClr>
                        </a:gs>
                        <a:gs pos="50000">
                          <a:schemeClr val="accent3">
                            <a:satMod val="110000"/>
                            <a:lumMod val="100000"/>
                            <a:shade val="100000"/>
                          </a:schemeClr>
                        </a:gs>
                        <a:gs pos="100000">
                          <a:schemeClr val="accent3">
                            <a:lumMod val="99000"/>
                            <a:satMod val="120000"/>
                            <a:shade val="78000"/>
                          </a:schemeClr>
                        </a:gs>
                      </a:gsLst>
                      <a:lin ang="5400000" scaled="0"/>
                    </a:gradFill>
                    <a:ln w="9525">
                      <a:solidFill>
                        <a:schemeClr val="accent3"/>
                      </a:solidFill>
                      <a:round/>
                    </a:ln>
                    <a:effectLst>
                      <a:outerShdw blurRad="57150" dist="19050" dir="5400000" algn="ctr" rotWithShape="0">
                        <a:srgbClr val="000000">
                          <a:alpha val="63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Oct!$D$113:$H$113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Oct!$D$118:$G$118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4"/>
                      <c:pt idx="0">
                        <c:v>77966</c:v>
                      </c:pt>
                      <c:pt idx="1">
                        <c:v>156388.70000000001</c:v>
                      </c:pt>
                      <c:pt idx="2">
                        <c:v>89093.42</c:v>
                      </c:pt>
                      <c:pt idx="3">
                        <c:v>95894.09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B9A7-4F0F-AB88-6679F29A15F8}"/>
                  </c:ext>
                </c:extLst>
              </c15:ser>
            </c15:filteredLineSeries>
            <c15:filteredLineSeries>
              <c15:ser>
                <c:idx val="3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Oct!$B$119:$C$119</c15:sqref>
                        </c15:formulaRef>
                      </c:ext>
                    </c:extLst>
                    <c:strCache>
                      <c:ptCount val="2"/>
                      <c:pt idx="0">
                        <c:v>Accumulative</c:v>
                      </c:pt>
                      <c:pt idx="1">
                        <c:v>(Nm3)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Oct!$D$113:$H$113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Oct!$D$119:$G$119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4"/>
                      <c:pt idx="0">
                        <c:v>77966</c:v>
                      </c:pt>
                      <c:pt idx="1">
                        <c:v>194757</c:v>
                      </c:pt>
                      <c:pt idx="2">
                        <c:v>216650</c:v>
                      </c:pt>
                      <c:pt idx="3">
                        <c:v>310125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B9A7-4F0F-AB88-6679F29A15F8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Oct!$B$120:$C$120</c15:sqref>
                        </c15:formulaRef>
                      </c:ext>
                    </c:extLst>
                    <c:strCache>
                      <c:ptCount val="2"/>
                      <c:pt idx="0">
                        <c:v>Target Gas based on Delivered Substrates</c:v>
                      </c:pt>
                      <c:pt idx="1">
                        <c:v>(Nm3)</c:v>
                      </c:pt>
                    </c:strCache>
                  </c:strRef>
                </c:tx>
                <c:spPr>
                  <a:ln w="3492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Oct!$D$113:$H$113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Oct!$D$120:$H$120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"/>
                      <c:pt idx="0">
                        <c:v>82234.552691999997</c:v>
                      </c:pt>
                      <c:pt idx="1">
                        <c:v>147802.95761999997</c:v>
                      </c:pt>
                      <c:pt idx="2">
                        <c:v>71731.283729999996</c:v>
                      </c:pt>
                      <c:pt idx="3">
                        <c:v>60020.150717999997</c:v>
                      </c:pt>
                      <c:pt idx="4">
                        <c:v>112554.71249400001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B9A7-4F0F-AB88-6679F29A15F8}"/>
                  </c:ext>
                </c:extLst>
              </c15:ser>
            </c15:filteredLineSeries>
          </c:ext>
        </c:extLst>
      </c:lineChart>
      <c:catAx>
        <c:axId val="1723786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592720"/>
        <c:crosses val="autoZero"/>
        <c:auto val="1"/>
        <c:lblAlgn val="ctr"/>
        <c:lblOffset val="100"/>
        <c:noMultiLvlLbl val="1"/>
      </c:catAx>
      <c:valAx>
        <c:axId val="1745592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/>
                  <a:t>(Nm3)</a:t>
                </a:r>
              </a:p>
            </c:rich>
          </c:tx>
          <c:layout>
            <c:manualLayout>
              <c:xMode val="edge"/>
              <c:yMode val="edge"/>
              <c:x val="0.1572054197817343"/>
              <c:y val="0.210394849326779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7864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367081569440655"/>
          <c:y val="0.12528405766264164"/>
          <c:w val="0.77286261321270178"/>
          <c:h val="0.594362117380496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Oct!$B$78:$C$78</c:f>
              <c:strCache>
                <c:ptCount val="2"/>
                <c:pt idx="0">
                  <c:v>Delivered</c:v>
                </c:pt>
                <c:pt idx="1">
                  <c:v>(kWh)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Oct!$D$77:$H$77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Oct!$D$78:$H$78</c:f>
              <c:numCache>
                <c:formatCode>_-* #,##0_-;\-* #,##0_-;_-* "-"??_-;_-@_-</c:formatCode>
                <c:ptCount val="5"/>
                <c:pt idx="1">
                  <c:v>54510</c:v>
                </c:pt>
                <c:pt idx="2">
                  <c:v>66186</c:v>
                </c:pt>
                <c:pt idx="3">
                  <c:v>5147</c:v>
                </c:pt>
                <c:pt idx="4">
                  <c:v>79561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11-499E-9513-6B635DDA5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axId val="305608704"/>
        <c:axId val="30557441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Oct!$B$79:$C$79</c15:sqref>
                        </c15:formulaRef>
                      </c:ext>
                    </c:extLst>
                    <c:strCache>
                      <c:ptCount val="2"/>
                      <c:pt idx="0">
                        <c:v>Accumulative</c:v>
                      </c:pt>
                      <c:pt idx="1">
                        <c:v>(kWh)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Oct!$D$77:$H$77</c15:sqref>
                        </c15:formulaRef>
                      </c:ext>
                    </c:extLst>
                    <c:strCache>
                      <c:ptCount val="5"/>
                      <c:pt idx="0">
                        <c:v>WEEK 1
(Oct1-4)</c:v>
                      </c:pt>
                      <c:pt idx="1">
                        <c:v>WEEK 2
(Oct5-11)</c:v>
                      </c:pt>
                      <c:pt idx="2">
                        <c:v>WEEK 3
(Oct12-18)</c:v>
                      </c:pt>
                      <c:pt idx="3">
                        <c:v>WEEK 4
(Oct19-25)</c:v>
                      </c:pt>
                      <c:pt idx="4">
                        <c:v>WEEK 5
(Oct26-31)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Oct!$D$79:$G$79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4"/>
                      <c:pt idx="0">
                        <c:v>0</c:v>
                      </c:pt>
                      <c:pt idx="1">
                        <c:v>54510</c:v>
                      </c:pt>
                      <c:pt idx="2">
                        <c:v>120696</c:v>
                      </c:pt>
                      <c:pt idx="3">
                        <c:v>125843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9F11-499E-9513-6B635DDA5FC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Oct!$B$80:$C$80</c:f>
              <c:strCache>
                <c:ptCount val="2"/>
                <c:pt idx="0">
                  <c:v>Target to Reach SCA Minimum </c:v>
                </c:pt>
                <c:pt idx="1">
                  <c:v>(kWh)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5"/>
              </a:solidFill>
              <a:ln w="9525">
                <a:noFill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Oct!$D$77:$H$77</c:f>
              <c:strCache>
                <c:ptCount val="5"/>
                <c:pt idx="0">
                  <c:v>WEEK 1
(Oct1-4)</c:v>
                </c:pt>
                <c:pt idx="1">
                  <c:v>WEEK 2
(Oct5-11)</c:v>
                </c:pt>
                <c:pt idx="2">
                  <c:v>WEEK 3
(Oct12-18)</c:v>
                </c:pt>
                <c:pt idx="3">
                  <c:v>WEEK 4
(Oct19-25)</c:v>
                </c:pt>
                <c:pt idx="4">
                  <c:v>WEEK 5
(Oct26-31)</c:v>
                </c:pt>
              </c:strCache>
            </c:strRef>
          </c:cat>
          <c:val>
            <c:numRef>
              <c:f>Oct!$D$80:$H$80</c:f>
              <c:numCache>
                <c:formatCode>_-* #,##0_-;\-* #,##0_-;_-* "-"??_-;_-@_-</c:formatCode>
                <c:ptCount val="5"/>
                <c:pt idx="0">
                  <c:v>153707.76344086023</c:v>
                </c:pt>
                <c:pt idx="1">
                  <c:v>422696.34946236562</c:v>
                </c:pt>
                <c:pt idx="2">
                  <c:v>637174.93548387103</c:v>
                </c:pt>
                <c:pt idx="3">
                  <c:v>839977.52150537644</c:v>
                </c:pt>
                <c:pt idx="4">
                  <c:v>1065392.1666666667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11-499E-9513-6B635DDA5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5608704"/>
        <c:axId val="305574416"/>
        <c:extLst/>
      </c:lineChart>
      <c:catAx>
        <c:axId val="30560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574416"/>
        <c:crosses val="autoZero"/>
        <c:auto val="1"/>
        <c:lblAlgn val="ctr"/>
        <c:lblOffset val="100"/>
        <c:noMultiLvlLbl val="1"/>
      </c:catAx>
      <c:valAx>
        <c:axId val="30557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/>
                  <a:t>kWh</a:t>
                </a:r>
              </a:p>
            </c:rich>
          </c:tx>
          <c:layout>
            <c:manualLayout>
              <c:xMode val="edge"/>
              <c:yMode val="edge"/>
              <c:x val="0.16530445088964488"/>
              <c:y val="0.357058011982938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60870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2985466" cy="502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074" y="1"/>
            <a:ext cx="2985465" cy="502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68C1F-F430-4075-A1E4-69400EDEE76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515767"/>
            <a:ext cx="2985466" cy="502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074" y="9515767"/>
            <a:ext cx="2985465" cy="502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EC8FB-338A-4903-BF3B-50079F1EDF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27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33E3-B89E-4896-B7DC-A7A67A604828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1252538"/>
            <a:ext cx="450373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9"/>
            <a:ext cx="5510530" cy="394486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40"/>
            <a:ext cx="2984871" cy="502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40"/>
            <a:ext cx="2984871" cy="502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E3E8B-ABAD-4C69-9976-7881117768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8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2E152B-C13A-3534-370B-89D80FDD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4806"/>
          <a:stretch/>
        </p:blipFill>
        <p:spPr>
          <a:xfrm>
            <a:off x="7580192" y="5983548"/>
            <a:ext cx="1563808" cy="514842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0" y="6563444"/>
            <a:ext cx="9144000" cy="298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en-US" sz="2215">
              <a:ea typeface="MS PGothic" pitchFamily="34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17396" y="2022709"/>
            <a:ext cx="5201108" cy="89271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buFontTx/>
              <a:buNone/>
              <a:defRPr sz="2954" b="0" cap="none" baseline="0">
                <a:solidFill>
                  <a:srgbClr val="002060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AU" dirty="0"/>
              <a:t>Click to insert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517396" y="4572000"/>
            <a:ext cx="2617177" cy="288528"/>
          </a:xfrm>
          <a:prstGeom prst="rect">
            <a:avLst/>
          </a:prstGeom>
        </p:spPr>
        <p:txBody>
          <a:bodyPr/>
          <a:lstStyle>
            <a:lvl1pPr algn="l">
              <a:defRPr sz="1108"/>
            </a:lvl1pPr>
          </a:lstStyle>
          <a:p>
            <a:pPr lvl="0"/>
            <a:r>
              <a:rPr lang="en-AU" noProof="0" dirty="0"/>
              <a:t>Click to insert 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9138462" cy="68580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923" dirty="0" err="1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7396" y="2854800"/>
            <a:ext cx="5200615" cy="864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215" baseline="0">
                <a:latin typeface="+mj-lt"/>
              </a:defRPr>
            </a:lvl1pPr>
          </a:lstStyle>
          <a:p>
            <a:pPr lvl="0"/>
            <a:r>
              <a:rPr lang="en-US" dirty="0"/>
              <a:t>Click to insert sub-title</a:t>
            </a:r>
            <a:endParaRPr lang="en-AU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D6FA586-43BA-B0A2-B42D-EA87F1201E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48360" y="298176"/>
            <a:ext cx="1609484" cy="53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44E39E-CD8F-F549-77DD-994D18D8368B}"/>
              </a:ext>
            </a:extLst>
          </p:cNvPr>
          <p:cNvCxnSpPr/>
          <p:nvPr userDrawn="1"/>
        </p:nvCxnSpPr>
        <p:spPr>
          <a:xfrm>
            <a:off x="5538" y="995951"/>
            <a:ext cx="91384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36F61-2F80-1D36-C43B-0F7EE3CC469E}"/>
              </a:ext>
            </a:extLst>
          </p:cNvPr>
          <p:cNvSpPr/>
          <p:nvPr userDrawn="1"/>
        </p:nvSpPr>
        <p:spPr>
          <a:xfrm>
            <a:off x="522934" y="916693"/>
            <a:ext cx="1907752" cy="1364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/>
          <a:lstStyle/>
          <a:p>
            <a:pPr algn="ctr"/>
            <a:endParaRPr lang="en-PH" sz="1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11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Group 80"/>
          <p:cNvGraphicFramePr>
            <a:graphicFrameLocks noGrp="1"/>
          </p:cNvGraphicFramePr>
          <p:nvPr userDrawn="1"/>
        </p:nvGraphicFramePr>
        <p:xfrm>
          <a:off x="468015" y="1926357"/>
          <a:ext cx="4236924" cy="448800"/>
        </p:xfrm>
        <a:graphic>
          <a:graphicData uri="http://schemas.openxmlformats.org/drawingml/2006/table">
            <a:tbl>
              <a:tblPr/>
              <a:tblGrid>
                <a:gridCol w="28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</a:pPr>
                      <a:r>
                        <a:rPr kumimoji="0" lang="en-A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L="33231" marR="33231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</a:pPr>
                      <a:r>
                        <a:rPr kumimoji="0" lang="en-A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Insert divider title</a:t>
                      </a:r>
                    </a:p>
                  </a:txBody>
                  <a:tcPr marL="33231" marR="33231" marT="36000" marB="36000" anchor="ctr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</a:pPr>
                      <a:r>
                        <a:rPr kumimoji="0" lang="en-A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</a:t>
                      </a:r>
                    </a:p>
                  </a:txBody>
                  <a:tcPr marL="33231" marR="33231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</a:pPr>
                      <a:r>
                        <a:rPr kumimoji="0" lang="en-A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  <a:defRPr/>
                      </a:pPr>
                      <a:r>
                        <a:rPr kumimoji="0" lang="en-A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Insert divider title</a:t>
                      </a:r>
                    </a:p>
                  </a:txBody>
                  <a:tcPr marL="33231" marR="33231" marT="36000" marB="360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7B1"/>
                        </a:buClr>
                        <a:buSzPct val="120000"/>
                        <a:buFont typeface="HelveticaNeue LT 45 Lt" pitchFamily="34" charset="0"/>
                        <a:buNone/>
                        <a:tabLst/>
                      </a:pPr>
                      <a:r>
                        <a:rPr kumimoji="0" lang="en-A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7</a:t>
                      </a:r>
                    </a:p>
                  </a:txBody>
                  <a:tcPr marL="33231" marR="33231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3230" y="1158653"/>
            <a:ext cx="3522853" cy="747837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en-AU" sz="2954" baseline="0" dirty="0">
                <a:solidFill>
                  <a:srgbClr val="002060"/>
                </a:solidFill>
                <a:latin typeface="+mj-lt"/>
              </a:rPr>
              <a:t>Contents</a:t>
            </a:r>
            <a:endParaRPr lang="en-AU" sz="2954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49" name="Rectangle 7"/>
          <p:cNvSpPr>
            <a:spLocks noChangeArrowheads="1"/>
          </p:cNvSpPr>
          <p:nvPr userDrawn="1"/>
        </p:nvSpPr>
        <p:spPr bwMode="auto">
          <a:xfrm>
            <a:off x="0" y="6563444"/>
            <a:ext cx="9144000" cy="298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en-US" sz="2215">
              <a:ea typeface="MS PGothic" pitchFamily="34" charset="-128"/>
            </a:endParaRPr>
          </a:p>
        </p:txBody>
      </p:sp>
      <p:cxnSp>
        <p:nvCxnSpPr>
          <p:cNvPr id="50" name="Straight Connector 49"/>
          <p:cNvCxnSpPr/>
          <p:nvPr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cxnSp>
        <p:nvCxnSpPr>
          <p:cNvPr id="58" name="Straight Connector 57"/>
          <p:cNvCxnSpPr/>
          <p:nvPr userDrawn="1"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TextBox 78"/>
          <p:cNvSpPr txBox="1"/>
          <p:nvPr userDrawn="1"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38462" cy="68580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923" dirty="0" err="1"/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28601" y="490084"/>
            <a:ext cx="2026497" cy="66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31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-288" y="6563444"/>
            <a:ext cx="9144000" cy="298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en-US" sz="2215">
              <a:ea typeface="MS PGothic" pitchFamily="34" charset="-128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72" name="TextBox 71"/>
          <p:cNvSpPr txBox="1"/>
          <p:nvPr userDrawn="1"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cxnSp>
        <p:nvCxnSpPr>
          <p:cNvPr id="73" name="Straight Connector 72"/>
          <p:cNvCxnSpPr/>
          <p:nvPr userDrawn="1"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/>
          <p:nvPr userDrawn="1"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366873" y="5396360"/>
            <a:ext cx="5866850" cy="8641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15" cap="none" baseline="0">
                <a:solidFill>
                  <a:srgbClr val="002060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r>
              <a:rPr lang="en-AU" noProof="0" dirty="0"/>
              <a:t>Divider title goes here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6873" y="3518475"/>
            <a:ext cx="2319703" cy="158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4770" b="1">
                <a:solidFill>
                  <a:srgbClr val="002060"/>
                </a:solidFill>
                <a:latin typeface="+mj-lt"/>
              </a:defRPr>
            </a:lvl1pPr>
          </a:lstStyle>
          <a:p>
            <a:pPr lvl="0"/>
            <a:r>
              <a:rPr lang="en-AU" noProof="0" dirty="0"/>
              <a:t>#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38462" cy="68580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923" dirty="0" err="1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75591" y="393548"/>
            <a:ext cx="2026497" cy="66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38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endix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0" y="6563444"/>
            <a:ext cx="9144000" cy="298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en-US" sz="2215" dirty="0">
              <a:ea typeface="MS PGothic" pitchFamily="34" charset="-128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73" name="TextBox 72"/>
          <p:cNvSpPr txBox="1"/>
          <p:nvPr userDrawn="1"/>
        </p:nvSpPr>
        <p:spPr>
          <a:xfrm>
            <a:off x="172389" y="6557123"/>
            <a:ext cx="1115616" cy="298800"/>
          </a:xfrm>
          <a:prstGeom prst="rect">
            <a:avLst/>
          </a:prstGeom>
          <a:noFill/>
        </p:spPr>
        <p:txBody>
          <a:bodyPr wrap="none" lIns="33231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bg1"/>
                </a:solidFill>
              </a:rPr>
              <a:t>STRICTLY CONFIDENTIAL</a:t>
            </a:r>
          </a:p>
        </p:txBody>
      </p:sp>
      <p:cxnSp>
        <p:nvCxnSpPr>
          <p:cNvPr id="74" name="Straight Connector 73"/>
          <p:cNvCxnSpPr/>
          <p:nvPr userDrawn="1"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Straight Connector 74"/>
          <p:cNvCxnSpPr/>
          <p:nvPr userDrawn="1"/>
        </p:nvCxnSpPr>
        <p:spPr bwMode="auto">
          <a:xfrm>
            <a:off x="0" y="6555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67284" y="5039121"/>
            <a:ext cx="1542500" cy="443707"/>
          </a:xfrm>
          <a:prstGeom prst="rect">
            <a:avLst/>
          </a:prstGeom>
          <a:ln w="3175">
            <a:noFill/>
          </a:ln>
        </p:spPr>
        <p:txBody>
          <a:bodyPr vert="horz" lIns="84406" tIns="42203" rIns="33231" bIns="33231" rtlCol="0">
            <a:no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AU" sz="2215" kern="1200" cap="none" baseline="0" noProof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APPENDIX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67285" y="5364753"/>
            <a:ext cx="5534094" cy="864000"/>
          </a:xfrm>
          <a:prstGeom prst="rect">
            <a:avLst/>
          </a:prstGeom>
          <a:ln w="3175">
            <a:noFill/>
          </a:ln>
        </p:spPr>
        <p:txBody>
          <a:bodyPr vert="horz" lIns="91440" tIns="45720" rIns="36000" bIns="36000" rtlCol="0">
            <a:noAutofit/>
          </a:bodyPr>
          <a:lstStyle>
            <a:lvl1pPr mar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  <a:defRPr lang="en-AU" sz="2215" kern="1200" cap="none" baseline="0" dirty="0">
                <a:solidFill>
                  <a:srgbClr val="002060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r>
              <a:rPr lang="en-AU" noProof="0"/>
              <a:t>Divider title goes here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7285" y="3501008"/>
            <a:ext cx="2319702" cy="158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AU" sz="14770" b="1" noProof="0" dirty="0">
                <a:solidFill>
                  <a:srgbClr val="002060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buFontTx/>
            </a:pPr>
            <a:r>
              <a:rPr lang="en-AU" noProof="0" dirty="0"/>
              <a:t>#</a:t>
            </a:r>
          </a:p>
        </p:txBody>
      </p:sp>
      <p:sp>
        <p:nvSpPr>
          <p:cNvPr id="42" name="Rectangle 41"/>
          <p:cNvSpPr/>
          <p:nvPr userDrawn="1"/>
        </p:nvSpPr>
        <p:spPr>
          <a:xfrm>
            <a:off x="0" y="0"/>
            <a:ext cx="9138462" cy="68580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923" dirty="0" err="1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22583" y="340539"/>
            <a:ext cx="2026497" cy="66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01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154" y="2897068"/>
            <a:ext cx="8088923" cy="102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BASIC LAYOUTS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86154" y="2897068"/>
            <a:ext cx="8088923" cy="102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BASIC LAYOUTS</a:t>
            </a:r>
          </a:p>
        </p:txBody>
      </p:sp>
    </p:spTree>
    <p:extLst>
      <p:ext uri="{BB962C8B-B14F-4D97-AF65-F5344CB8AC3E}">
        <p14:creationId xmlns:p14="http://schemas.microsoft.com/office/powerpoint/2010/main" val="28938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68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lnSpc>
                <a:spcPct val="100000"/>
              </a:lnSpc>
              <a:spcBef>
                <a:spcPts val="2769"/>
              </a:spcBef>
              <a:spcAft>
                <a:spcPts val="3877"/>
              </a:spcAft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19326"/>
            <a:ext cx="8440615" cy="41528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375"/>
            <a:ext cx="8440615" cy="36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 dirty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54282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X2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lnSpc>
                <a:spcPct val="100000"/>
              </a:lnSpc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19325"/>
            <a:ext cx="8440615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6" y="4199815"/>
            <a:ext cx="8440615" cy="36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6" y="4560178"/>
            <a:ext cx="8440615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375"/>
            <a:ext cx="8440615" cy="36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1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/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28437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723"/>
            <a:ext cx="4054154" cy="4152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423" y="1857601"/>
            <a:ext cx="4054154" cy="360363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423" y="2219723"/>
            <a:ext cx="4054154" cy="4152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1"/>
            <a:ext cx="4054154" cy="360363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1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25315" y="228600"/>
            <a:ext cx="6230769" cy="948266"/>
          </a:xfrm>
          <a:prstGeom prst="rect">
            <a:avLst/>
          </a:prstGeom>
        </p:spPr>
        <p:txBody>
          <a:bodyPr/>
          <a:lstStyle/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101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 dirty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23916"/>
            <a:ext cx="2701662" cy="4152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601"/>
            <a:ext cx="2701662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23916"/>
            <a:ext cx="2701662" cy="4152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1857601"/>
            <a:ext cx="2701662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2223916"/>
            <a:ext cx="2701662" cy="4152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1"/>
            <a:ext cx="2701662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5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28391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3543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24237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123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123" y="2224237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5" y="420052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5" y="4559300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712123" y="420052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4712123" y="4559300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5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08536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2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6705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69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69" y="2216705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  <a:p>
            <a:pPr lvl="0"/>
            <a:endParaRPr lang="en-AU" noProof="0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2216705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25314" y="419862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25315" y="4562476"/>
            <a:ext cx="2701662" cy="18093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20" hasCustomPrompt="1"/>
          </p:nvPr>
        </p:nvSpPr>
        <p:spPr>
          <a:xfrm>
            <a:off x="3196869" y="419862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5</a:t>
            </a:r>
          </a:p>
        </p:txBody>
      </p:sp>
      <p:sp>
        <p:nvSpPr>
          <p:cNvPr id="51" name="Content Placeholder 50"/>
          <p:cNvSpPr>
            <a:spLocks noGrp="1"/>
          </p:cNvSpPr>
          <p:nvPr>
            <p:ph sz="quarter" idx="21" hasCustomPrompt="1"/>
          </p:nvPr>
        </p:nvSpPr>
        <p:spPr>
          <a:xfrm>
            <a:off x="3196869" y="4562476"/>
            <a:ext cx="2701662" cy="180932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4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17" name="Text Placeholder 52"/>
          <p:cNvSpPr>
            <a:spLocks noGrp="1"/>
          </p:cNvSpPr>
          <p:nvPr>
            <p:ph type="body" sz="quarter" idx="25" hasCustomPrompt="1"/>
          </p:nvPr>
        </p:nvSpPr>
        <p:spPr>
          <a:xfrm>
            <a:off x="6064615" y="419862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6</a:t>
            </a:r>
          </a:p>
        </p:txBody>
      </p:sp>
      <p:sp>
        <p:nvSpPr>
          <p:cNvPr id="19" name="Content Placeholder 54"/>
          <p:cNvSpPr>
            <a:spLocks noGrp="1"/>
          </p:cNvSpPr>
          <p:nvPr>
            <p:ph sz="quarter" idx="26" hasCustomPrompt="1"/>
          </p:nvPr>
        </p:nvSpPr>
        <p:spPr>
          <a:xfrm>
            <a:off x="6064615" y="4562476"/>
            <a:ext cx="2701662" cy="18093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5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75983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TH HEADING COMBIN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WITH HEADING</a:t>
            </a:r>
            <a:br>
              <a:rPr lang="en-AU" sz="6092" b="1" dirty="0">
                <a:solidFill>
                  <a:schemeClr val="accent2"/>
                </a:solidFill>
              </a:rPr>
            </a:br>
            <a:r>
              <a:rPr lang="en-AU" sz="6092" b="1" dirty="0">
                <a:solidFill>
                  <a:schemeClr val="accent2"/>
                </a:solidFill>
              </a:rPr>
              <a:t>COMBINATIONS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WITH HEADING</a:t>
            </a:r>
            <a:br>
              <a:rPr lang="en-AU" sz="6092" b="1" dirty="0">
                <a:solidFill>
                  <a:schemeClr val="accent2"/>
                </a:solidFill>
              </a:rPr>
            </a:br>
            <a:r>
              <a:rPr lang="en-AU" sz="6092" b="1" dirty="0">
                <a:solidFill>
                  <a:schemeClr val="accent2"/>
                </a:solidFill>
              </a:rPr>
              <a:t>COMBINATIONS</a:t>
            </a:r>
          </a:p>
        </p:txBody>
      </p:sp>
    </p:spTree>
    <p:extLst>
      <p:ext uri="{BB962C8B-B14F-4D97-AF65-F5344CB8AC3E}">
        <p14:creationId xmlns:p14="http://schemas.microsoft.com/office/powerpoint/2010/main" val="3566662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60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5"/>
            <a:ext cx="5574323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615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615" y="2219325"/>
            <a:ext cx="2701662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347360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1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4" y="2219325"/>
            <a:ext cx="2701662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601"/>
            <a:ext cx="5576129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19325"/>
            <a:ext cx="5576129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1"/>
            <a:ext cx="2701662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567366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5574323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615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615" y="2219325"/>
            <a:ext cx="2701662" cy="1809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4200525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4562475"/>
            <a:ext cx="2701662" cy="1805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858755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2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2701662" cy="18097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0525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62475"/>
            <a:ext cx="2701662" cy="18068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1857375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2219325"/>
            <a:ext cx="5576025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480597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 dirty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5"/>
            <a:ext cx="5574323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615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615" y="2219722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3379233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3745655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6064615" y="4894552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6064615" y="5260975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4091978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3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21942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3381376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3743635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5" y="489585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5" y="5260975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196800" y="1847850"/>
            <a:ext cx="5576550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196800" y="2219325"/>
            <a:ext cx="5576550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2054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842203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4054154" cy="41499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123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123" y="2223914"/>
            <a:ext cx="4054154" cy="180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123" y="420052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123" y="4562476"/>
            <a:ext cx="4054154" cy="18135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312630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2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5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171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61595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2219326"/>
            <a:ext cx="4054154" cy="41499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79335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5"/>
            <a:ext cx="4054154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0808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0808" y="2224042"/>
            <a:ext cx="4054154" cy="11097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0808" y="3385607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0808" y="3743323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710808" y="489585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4710808" y="5257799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914943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3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4054154" cy="1114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3381376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3743326"/>
            <a:ext cx="4054154" cy="11144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5" y="489585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5" y="5257801"/>
            <a:ext cx="4054154" cy="1114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712423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4712423" y="2219325"/>
            <a:ext cx="4054154" cy="415290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77238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19325"/>
            <a:ext cx="2699238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375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19325"/>
            <a:ext cx="5576025" cy="1809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4200525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4562475"/>
            <a:ext cx="5576025" cy="1805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375"/>
            <a:ext cx="2699238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055988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2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5574323" cy="18097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0525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62475"/>
            <a:ext cx="5574323" cy="1805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6" y="1857375"/>
            <a:ext cx="2705100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6" y="2219325"/>
            <a:ext cx="2705100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950107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19325"/>
            <a:ext cx="2699238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375"/>
            <a:ext cx="557316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19325"/>
            <a:ext cx="5573169" cy="11144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3381375"/>
            <a:ext cx="557316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3743325"/>
            <a:ext cx="5573169" cy="1114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196800" y="4895850"/>
            <a:ext cx="557316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196800" y="5257800"/>
            <a:ext cx="5573169" cy="11170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375"/>
            <a:ext cx="2699238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991282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3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5"/>
            <a:ext cx="5574323" cy="1114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3381375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3743325"/>
            <a:ext cx="5574323" cy="11144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5" y="4895850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5" y="5257800"/>
            <a:ext cx="5574323" cy="11170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6064616" y="1857375"/>
            <a:ext cx="2712208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6064616" y="2219325"/>
            <a:ext cx="2712208" cy="41499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5574323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8456073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19326"/>
            <a:ext cx="8440615" cy="18097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052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62475"/>
            <a:ext cx="4054154" cy="1805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420052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4562475"/>
            <a:ext cx="4054154" cy="1805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375"/>
            <a:ext cx="844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3667349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2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4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123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123" y="2219323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6" y="4200525"/>
            <a:ext cx="844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6" y="4562475"/>
            <a:ext cx="8440615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37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4153891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22039"/>
            <a:ext cx="8440615" cy="18070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5907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420627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6064615" y="420627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6064615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600"/>
            <a:ext cx="844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219115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3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7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7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2222038"/>
            <a:ext cx="2701662" cy="18070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22038"/>
            <a:ext cx="2701662" cy="18070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2222038"/>
            <a:ext cx="2701662" cy="18070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25317" y="4198627"/>
            <a:ext cx="844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25317" y="4562476"/>
            <a:ext cx="8440615" cy="18093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6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154176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ING COMBIN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NO HEADING COMBINATIONS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NO HEADING COMBINATIONS</a:t>
            </a:r>
          </a:p>
        </p:txBody>
      </p:sp>
    </p:spTree>
    <p:extLst>
      <p:ext uri="{BB962C8B-B14F-4D97-AF65-F5344CB8AC3E}">
        <p14:creationId xmlns:p14="http://schemas.microsoft.com/office/powerpoint/2010/main" val="3422149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857375"/>
            <a:ext cx="8440615" cy="4514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9298171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X2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857375"/>
            <a:ext cx="8440615" cy="2171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6" y="4201716"/>
            <a:ext cx="8440615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6" y="4559300"/>
            <a:ext cx="8440615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4111542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2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60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857376"/>
            <a:ext cx="8440615" cy="2171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1715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59300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4202078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4559300"/>
            <a:ext cx="4054154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460483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3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616"/>
            <a:ext cx="8440615" cy="628759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857375"/>
            <a:ext cx="8440615" cy="2171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4201715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205" y="420207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205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6064615" y="420207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6064615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1464500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4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60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857376"/>
            <a:ext cx="8440615" cy="14805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25315" y="3377939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25315" y="3738302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3378302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3738302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25315" y="4898718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25315" y="5258878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20" hasCustomPrompt="1"/>
          </p:nvPr>
        </p:nvSpPr>
        <p:spPr>
          <a:xfrm>
            <a:off x="4712423" y="4898718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51" name="Content Placeholder 50"/>
          <p:cNvSpPr>
            <a:spLocks noGrp="1"/>
          </p:cNvSpPr>
          <p:nvPr>
            <p:ph sz="quarter" idx="21" hasCustomPrompt="1"/>
          </p:nvPr>
        </p:nvSpPr>
        <p:spPr>
          <a:xfrm>
            <a:off x="4712423" y="5258878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136993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90800"/>
            <a:ext cx="5574323" cy="439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615" y="1857375"/>
            <a:ext cx="2712070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615" y="2219326"/>
            <a:ext cx="2712070" cy="41499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3797402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2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90800"/>
            <a:ext cx="5574323" cy="4377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615" y="1857035"/>
            <a:ext cx="2704758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615" y="2215557"/>
            <a:ext cx="2704758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615" y="4206048"/>
            <a:ext cx="2704758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615" y="4561141"/>
            <a:ext cx="2704758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1604102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+ 3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60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90800"/>
            <a:ext cx="5574323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6064269" y="1855759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6064269" y="2217483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4269" y="3376668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4269" y="3732269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6064269" y="4894009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6064269" y="5259134"/>
            <a:ext cx="2701662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7295025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90800"/>
            <a:ext cx="4054154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423" y="1855759"/>
            <a:ext cx="4054154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423" y="2215643"/>
            <a:ext cx="4054154" cy="41565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9579501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2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88959"/>
            <a:ext cx="4054154" cy="43737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423" y="1855759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423" y="2215644"/>
            <a:ext cx="4054154" cy="18101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4204207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4559242"/>
            <a:ext cx="4054154" cy="1810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9604760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3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88959"/>
            <a:ext cx="4054154" cy="43737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423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423" y="2223914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4712423" y="3376866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4712423" y="3730625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712423" y="4899532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4712423" y="5255132"/>
            <a:ext cx="4054154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7594085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616"/>
            <a:ext cx="8440615" cy="628759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990800"/>
            <a:ext cx="2699238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2131" y="1858962"/>
            <a:ext cx="5576025" cy="360363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1608" y="2219326"/>
            <a:ext cx="5576025" cy="41528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6225697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2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990800"/>
            <a:ext cx="2699238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600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22038"/>
            <a:ext cx="5576025" cy="18070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4198628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4562475"/>
            <a:ext cx="5576025" cy="180932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691676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3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6" y="1990800"/>
            <a:ext cx="2699238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00" y="1857600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00" y="2221942"/>
            <a:ext cx="5576025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196800" y="3381375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196800" y="3743635"/>
            <a:ext cx="5576025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196800" y="4895850"/>
            <a:ext cx="557602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196800" y="5260975"/>
            <a:ext cx="5576025" cy="11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4698638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2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599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6781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3" y="1990800"/>
            <a:ext cx="2701662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003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003" y="2219326"/>
            <a:ext cx="2701662" cy="41528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6693" y="1857600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6693" y="2219325"/>
            <a:ext cx="2701662" cy="415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9138805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+ 4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28725"/>
            <a:ext cx="8458552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4" y="1990800"/>
            <a:ext cx="2701662" cy="4381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3196869" y="1858876"/>
            <a:ext cx="2701662" cy="36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3196869" y="2219239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6068423" y="1858876"/>
            <a:ext cx="2701662" cy="36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 anchor="b">
            <a:noAutofit/>
          </a:bodyPr>
          <a:lstStyle>
            <a:lvl1pPr>
              <a:defRPr lang="en-AU" sz="1015" b="1" kern="1200" noProof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6068423" y="2219239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3196869" y="4206269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3196869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20" hasCustomPrompt="1"/>
          </p:nvPr>
        </p:nvSpPr>
        <p:spPr>
          <a:xfrm>
            <a:off x="6068423" y="4206269"/>
            <a:ext cx="2701662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51" name="Content Placeholder 50"/>
          <p:cNvSpPr>
            <a:spLocks noGrp="1"/>
          </p:cNvSpPr>
          <p:nvPr>
            <p:ph sz="quarter" idx="21" hasCustomPrompt="1"/>
          </p:nvPr>
        </p:nvSpPr>
        <p:spPr>
          <a:xfrm>
            <a:off x="6068423" y="4559300"/>
            <a:ext cx="2701662" cy="18144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386781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4 + 3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7600"/>
            <a:ext cx="8440615" cy="630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990800"/>
            <a:ext cx="4054154" cy="204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4712423" y="1857600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5" hasCustomPrompt="1"/>
          </p:nvPr>
        </p:nvSpPr>
        <p:spPr>
          <a:xfrm>
            <a:off x="4712423" y="2219326"/>
            <a:ext cx="4054154" cy="18097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325315" y="4202078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sz="quarter" idx="17" hasCustomPrompt="1"/>
          </p:nvPr>
        </p:nvSpPr>
        <p:spPr>
          <a:xfrm>
            <a:off x="325315" y="4562476"/>
            <a:ext cx="4054154" cy="18093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712423" y="4202078"/>
            <a:ext cx="4054154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sz="quarter" idx="19" hasCustomPrompt="1"/>
          </p:nvPr>
        </p:nvSpPr>
        <p:spPr>
          <a:xfrm>
            <a:off x="4712423" y="4562476"/>
            <a:ext cx="4054154" cy="18093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1205522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C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KEY MESSAGE COMBINATIONS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KEY MESSAGE COMBINATIONS</a:t>
            </a:r>
          </a:p>
        </p:txBody>
      </p:sp>
    </p:spTree>
    <p:extLst>
      <p:ext uri="{BB962C8B-B14F-4D97-AF65-F5344CB8AC3E}">
        <p14:creationId xmlns:p14="http://schemas.microsoft.com/office/powerpoint/2010/main" val="18951672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90000"/>
              <a:buFont typeface="Wingdings" pitchFamily="2" charset="2"/>
              <a:buChar char="l"/>
              <a:defRPr baseline="0">
                <a:latin typeface="+mn-lt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lvl="2"/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72226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2" y="1227123"/>
            <a:ext cx="627450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2" y="1586369"/>
            <a:ext cx="6274509" cy="47858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4562537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X2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90000"/>
              <a:buFont typeface="Wingdings" pitchFamily="2" charset="2"/>
              <a:buChar char="l"/>
              <a:defRPr baseline="0">
                <a:latin typeface="+mn-lt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lvl="2"/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2" y="1227600"/>
            <a:ext cx="627450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2" y="1590676"/>
            <a:ext cx="6274509" cy="213275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2485662" y="3889663"/>
            <a:ext cx="6274509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2485662" y="4244575"/>
            <a:ext cx="6274509" cy="21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6659547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6673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6673" y="1590673"/>
            <a:ext cx="3057231" cy="47815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04381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04381" y="1590673"/>
            <a:ext cx="3057231" cy="47815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7891663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X3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2" y="1227600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2" y="1592944"/>
            <a:ext cx="6280615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2485662" y="2952749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2485662" y="3312600"/>
            <a:ext cx="6280615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2485662" y="4676775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2485662" y="5041900"/>
            <a:ext cx="6280615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 dirty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6259212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1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1" y="1590676"/>
            <a:ext cx="3057231" cy="21324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09041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09041" y="1590676"/>
            <a:ext cx="3057231" cy="21324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2485661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2485661" y="4244750"/>
            <a:ext cx="3057231" cy="21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8" hasCustomPrompt="1"/>
          </p:nvPr>
        </p:nvSpPr>
        <p:spPr>
          <a:xfrm>
            <a:off x="5709041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sz="quarter" idx="19" hasCustomPrompt="1"/>
          </p:nvPr>
        </p:nvSpPr>
        <p:spPr>
          <a:xfrm>
            <a:off x="5709041" y="4244750"/>
            <a:ext cx="3057231" cy="21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842100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3 ACROSS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 baseline="0">
                <a:latin typeface="+mn-lt"/>
                <a:sym typeface="Wingdings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  <a:sym typeface="Wingdings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086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086" y="1592944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13008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13008" y="1592944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2485086" y="2952749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2485086" y="33147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8" hasCustomPrompt="1"/>
          </p:nvPr>
        </p:nvSpPr>
        <p:spPr>
          <a:xfrm>
            <a:off x="5713008" y="2952749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sz="quarter" idx="19" hasCustomPrompt="1"/>
          </p:nvPr>
        </p:nvSpPr>
        <p:spPr>
          <a:xfrm>
            <a:off x="5713008" y="33147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20" hasCustomPrompt="1"/>
          </p:nvPr>
        </p:nvSpPr>
        <p:spPr>
          <a:xfrm>
            <a:off x="2485086" y="4676775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5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21" hasCustomPrompt="1"/>
          </p:nvPr>
        </p:nvSpPr>
        <p:spPr>
          <a:xfrm>
            <a:off x="2485086" y="50419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22" hasCustomPrompt="1"/>
          </p:nvPr>
        </p:nvSpPr>
        <p:spPr>
          <a:xfrm>
            <a:off x="5713008" y="4676775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6</a:t>
            </a:r>
          </a:p>
        </p:txBody>
      </p:sp>
      <p:sp>
        <p:nvSpPr>
          <p:cNvPr id="60" name="Content Placeholder 59"/>
          <p:cNvSpPr>
            <a:spLocks noGrp="1"/>
          </p:cNvSpPr>
          <p:nvPr>
            <p:ph sz="quarter" idx="23" hasCustomPrompt="1"/>
          </p:nvPr>
        </p:nvSpPr>
        <p:spPr>
          <a:xfrm>
            <a:off x="5713008" y="50419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</p:spTree>
    <p:extLst>
      <p:ext uri="{BB962C8B-B14F-4D97-AF65-F5344CB8AC3E}">
        <p14:creationId xmlns:p14="http://schemas.microsoft.com/office/powerpoint/2010/main" val="13468015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MIX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1" y="1228725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1" y="1589559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05412" y="1228725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05412" y="1589559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2485661" y="2952749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2485661" y="33147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8" hasCustomPrompt="1"/>
          </p:nvPr>
        </p:nvSpPr>
        <p:spPr>
          <a:xfrm>
            <a:off x="5705412" y="2952749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4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sz="quarter" idx="19" hasCustomPrompt="1"/>
          </p:nvPr>
        </p:nvSpPr>
        <p:spPr>
          <a:xfrm>
            <a:off x="5705412" y="3314700"/>
            <a:ext cx="3057231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20" hasCustomPrompt="1"/>
          </p:nvPr>
        </p:nvSpPr>
        <p:spPr>
          <a:xfrm>
            <a:off x="2485662" y="4676775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5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21" hasCustomPrompt="1"/>
          </p:nvPr>
        </p:nvSpPr>
        <p:spPr>
          <a:xfrm>
            <a:off x="2485662" y="5041900"/>
            <a:ext cx="6280615" cy="133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9706145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2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086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086" y="1590675"/>
            <a:ext cx="3057231" cy="47815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10764" y="1227600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10764" y="1590675"/>
            <a:ext cx="3057231" cy="2133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5710764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5710764" y="4248150"/>
            <a:ext cx="3057231" cy="2125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0721872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+ 2 WITH SIDE KM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086" y="1228724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086" y="1590674"/>
            <a:ext cx="3057231" cy="2133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2485086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2485086" y="4248150"/>
            <a:ext cx="3057231" cy="2125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5710764" y="1228724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5710764" y="1590675"/>
            <a:ext cx="3057231" cy="47815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982828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2 WITH SIDE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2" y="1228723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2" y="1590675"/>
            <a:ext cx="6280615" cy="21377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2485661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2485661" y="4248150"/>
            <a:ext cx="3057231" cy="212407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5709138" y="3889663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5709138" y="4248150"/>
            <a:ext cx="3057231" cy="2125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3318935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2 WITH SIDE KM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5" y="1266825"/>
            <a:ext cx="1993846" cy="5105400"/>
          </a:xfrm>
          <a:prstGeom prst="rect">
            <a:avLst/>
          </a:prstGeom>
        </p:spPr>
        <p:txBody>
          <a:bodyPr/>
          <a:lstStyle>
            <a:lvl1pPr>
              <a:defRPr lang="en-AU" sz="1477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baseline="0">
                <a:latin typeface="+mn-lt"/>
                <a:sym typeface="Wingdings"/>
              </a:defRPr>
            </a:lvl2pPr>
            <a:lvl3pPr marL="167058" indent="-167058">
              <a:buClr>
                <a:schemeClr val="accent2"/>
              </a:buClr>
              <a:buSzPct val="100000"/>
              <a:buFont typeface="Wingdings" pitchFamily="2" charset="2"/>
              <a:buChar char=""/>
              <a:defRPr lang="en-AU" sz="923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34116" indent="-167058">
              <a:buFont typeface="Arial" pitchFamily="34" charset="0"/>
              <a:buChar char="–"/>
              <a:defRPr>
                <a:latin typeface="+mn-lt"/>
              </a:defRPr>
            </a:lvl4pPr>
            <a:lvl5pPr marL="501174" indent="-167058">
              <a:buClrTx/>
              <a:buSzPct val="12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 dirty="0"/>
              <a:t>Click to insert key message</a:t>
            </a:r>
          </a:p>
          <a:p>
            <a:pPr lvl="1"/>
            <a:r>
              <a:rPr lang="en-AU" noProof="0" dirty="0"/>
              <a:t>Paragraph text</a:t>
            </a:r>
          </a:p>
          <a:p>
            <a:pPr marL="167058" lvl="2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accent2"/>
              </a:buClr>
              <a:buSzPct val="90000"/>
              <a:buFont typeface="Wingdings" pitchFamily="2" charset="2"/>
              <a:buChar char="l"/>
            </a:pPr>
            <a:r>
              <a:rPr lang="en-AU" noProof="0" dirty="0"/>
              <a:t>Bullet level 1</a:t>
            </a:r>
          </a:p>
          <a:p>
            <a:pPr lvl="3"/>
            <a:r>
              <a:rPr lang="en-AU" noProof="0" dirty="0"/>
              <a:t>Bullet level 2</a:t>
            </a:r>
          </a:p>
          <a:p>
            <a:pPr lvl="4"/>
            <a:r>
              <a:rPr lang="en-AU" noProof="0" dirty="0"/>
              <a:t>Bullet level 3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/>
          <a:lstStyle>
            <a:lvl1pPr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2485661" y="1228461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 hasCustomPrompt="1"/>
          </p:nvPr>
        </p:nvSpPr>
        <p:spPr>
          <a:xfrm>
            <a:off x="2485661" y="1590675"/>
            <a:ext cx="3057231" cy="21358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5705841" y="1228461"/>
            <a:ext cx="3057231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2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5" hasCustomPrompt="1"/>
          </p:nvPr>
        </p:nvSpPr>
        <p:spPr>
          <a:xfrm>
            <a:off x="5705841" y="1590675"/>
            <a:ext cx="3057231" cy="21358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 hasCustomPrompt="1"/>
          </p:nvPr>
        </p:nvSpPr>
        <p:spPr>
          <a:xfrm>
            <a:off x="2485662" y="3889663"/>
            <a:ext cx="6280615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3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17" hasCustomPrompt="1"/>
          </p:nvPr>
        </p:nvSpPr>
        <p:spPr>
          <a:xfrm>
            <a:off x="2485662" y="4248150"/>
            <a:ext cx="6280615" cy="2125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3656704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, MAP &amp; DIA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DISCLAIMER,</a:t>
            </a:r>
            <a:r>
              <a:rPr lang="en-AU" sz="6092" b="1" baseline="0" dirty="0">
                <a:solidFill>
                  <a:schemeClr val="accent2"/>
                </a:solidFill>
              </a:rPr>
              <a:t> </a:t>
            </a:r>
            <a:r>
              <a:rPr lang="en-AU" sz="6092" b="1" dirty="0">
                <a:solidFill>
                  <a:schemeClr val="accent2"/>
                </a:solidFill>
              </a:rPr>
              <a:t>MAP &amp; DIAGRAM LAYOUTS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DISCLAIMER,</a:t>
            </a:r>
            <a:r>
              <a:rPr lang="en-AU" sz="6092" b="1" baseline="0" dirty="0">
                <a:solidFill>
                  <a:schemeClr val="accent2"/>
                </a:solidFill>
              </a:rPr>
              <a:t> </a:t>
            </a:r>
            <a:r>
              <a:rPr lang="en-AU" sz="6092" b="1" dirty="0">
                <a:solidFill>
                  <a:schemeClr val="accent2"/>
                </a:solidFill>
              </a:rPr>
              <a:t>MAP &amp; DIAGRAM LAYOUTS</a:t>
            </a:r>
          </a:p>
        </p:txBody>
      </p:sp>
    </p:spTree>
    <p:extLst>
      <p:ext uri="{BB962C8B-B14F-4D97-AF65-F5344CB8AC3E}">
        <p14:creationId xmlns:p14="http://schemas.microsoft.com/office/powerpoint/2010/main" val="24178580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857375"/>
            <a:ext cx="8440615" cy="45148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spcAft>
                <a:spcPts val="332"/>
              </a:spcAft>
              <a:buFontTx/>
              <a:buNone/>
              <a:tabLst/>
              <a:defRPr sz="738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</a:lstStyle>
          <a:p>
            <a:pPr lvl="0"/>
            <a:r>
              <a:rPr lang="en-AU" noProof="0"/>
              <a:t>Insert text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/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30877929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7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7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285896701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AGE BLANK FOR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2219326"/>
            <a:ext cx="1993846" cy="41528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25315" y="1857600"/>
            <a:ext cx="1993846" cy="360000"/>
          </a:xfrm>
          <a:prstGeom prst="rect">
            <a:avLst/>
          </a:prstGeom>
        </p:spPr>
        <p:txBody>
          <a:bodyPr anchor="b"/>
          <a:lstStyle>
            <a:lvl1pPr>
              <a:defRPr sz="1015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noProof="0" dirty="0"/>
              <a:t>Click to insert sub-title 1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6772751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AGE BLANK FOR MAP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325316" y="1228725"/>
            <a:ext cx="8440615" cy="62865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>
              <a:defRPr lang="en-AU" sz="1477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8440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</a:pPr>
            <a:r>
              <a:rPr lang="en-AU" noProof="0"/>
              <a:t>Click to insert key message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325316" y="6369051"/>
            <a:ext cx="8440615" cy="288925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defRPr sz="646"/>
            </a:lvl1pPr>
          </a:lstStyle>
          <a:p>
            <a:pPr lvl="0"/>
            <a:r>
              <a:rPr lang="en-AU" noProof="0"/>
              <a:t>Click to insert source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3" hasCustomPrompt="1"/>
          </p:nvPr>
        </p:nvSpPr>
        <p:spPr>
          <a:xfrm>
            <a:off x="325315" y="1857375"/>
            <a:ext cx="1993846" cy="4514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AU" noProof="0" dirty="0"/>
              <a:t>Click to insert text/table/graph</a:t>
            </a:r>
          </a:p>
          <a:p>
            <a:pPr lvl="1"/>
            <a:r>
              <a:rPr lang="en-AU" noProof="0" dirty="0"/>
              <a:t>Bullet L1</a:t>
            </a:r>
          </a:p>
          <a:p>
            <a:pPr lvl="2"/>
            <a:r>
              <a:rPr lang="en-AU" noProof="0" dirty="0"/>
              <a:t>Bullet L2</a:t>
            </a:r>
          </a:p>
          <a:p>
            <a:pPr lvl="3"/>
            <a:r>
              <a:rPr lang="en-AU" noProof="0" dirty="0"/>
              <a:t>Bullet L3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noProof="0"/>
              <a:t>Click to insert page title</a:t>
            </a:r>
          </a:p>
        </p:txBody>
      </p:sp>
    </p:spTree>
    <p:extLst>
      <p:ext uri="{BB962C8B-B14F-4D97-AF65-F5344CB8AC3E}">
        <p14:creationId xmlns:p14="http://schemas.microsoft.com/office/powerpoint/2010/main" val="1842369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 POS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5316" y="1229007"/>
          <a:ext cx="8449408" cy="5143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5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000">
                <a:tc gridSpan="3">
                  <a:txBody>
                    <a:bodyPr/>
                    <a:lstStyle/>
                    <a:p>
                      <a:endParaRPr lang="en-AU" sz="16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600" dirty="0"/>
                    </a:p>
                  </a:txBody>
                  <a:tcPr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600" dirty="0"/>
                    </a:p>
                  </a:txBody>
                  <a:tcPr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18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25316" y="228600"/>
            <a:ext cx="6230769" cy="948266"/>
          </a:xfrm>
          <a:prstGeom prst="rect">
            <a:avLst/>
          </a:prstGeom>
        </p:spPr>
        <p:txBody>
          <a:bodyPr/>
          <a:lstStyle/>
          <a:p>
            <a:r>
              <a:rPr lang="en-AU" noProof="0"/>
              <a:t>Click to insert page title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325316" y="1229007"/>
          <a:ext cx="8449408" cy="5143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5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000">
                <a:tc gridSpan="3">
                  <a:txBody>
                    <a:bodyPr/>
                    <a:lstStyle/>
                    <a:p>
                      <a:endParaRPr lang="en-AU" sz="16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600" dirty="0"/>
                    </a:p>
                  </a:txBody>
                  <a:tcPr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600" dirty="0"/>
                    </a:p>
                  </a:txBody>
                  <a:tcPr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18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marL="84406" marR="84406">
                    <a:lnL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2331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OVE SLIDES FROM THIS POINT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REMOVE LAYOUTS</a:t>
            </a:r>
            <a:br>
              <a:rPr lang="en-AU" sz="6092" b="1" dirty="0">
                <a:solidFill>
                  <a:schemeClr val="accent2"/>
                </a:solidFill>
              </a:rPr>
            </a:br>
            <a:r>
              <a:rPr lang="en-AU" sz="6092" b="1" dirty="0">
                <a:solidFill>
                  <a:schemeClr val="accent2"/>
                </a:solidFill>
              </a:rPr>
              <a:t>PAST THIS PAGE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86154" y="2385463"/>
            <a:ext cx="8088923" cy="196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92" b="1" dirty="0">
                <a:solidFill>
                  <a:schemeClr val="accent2"/>
                </a:solidFill>
              </a:rPr>
              <a:t>REMOVE LAYOUTS</a:t>
            </a:r>
            <a:br>
              <a:rPr lang="en-AU" sz="6092" b="1" dirty="0">
                <a:solidFill>
                  <a:schemeClr val="accent2"/>
                </a:solidFill>
              </a:rPr>
            </a:br>
            <a:r>
              <a:rPr lang="en-AU" sz="6092" b="1" dirty="0">
                <a:solidFill>
                  <a:schemeClr val="accent2"/>
                </a:solidFill>
              </a:rPr>
              <a:t>PAST THIS PAGE</a:t>
            </a:r>
          </a:p>
        </p:txBody>
      </p:sp>
    </p:spTree>
    <p:extLst>
      <p:ext uri="{BB962C8B-B14F-4D97-AF65-F5344CB8AC3E}">
        <p14:creationId xmlns:p14="http://schemas.microsoft.com/office/powerpoint/2010/main" val="314187998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01 Content Placeholder"/>
          <p:cNvSpPr>
            <a:spLocks noGrp="1"/>
          </p:cNvSpPr>
          <p:nvPr>
            <p:ph sz="quarter" idx="11"/>
          </p:nvPr>
        </p:nvSpPr>
        <p:spPr>
          <a:xfrm>
            <a:off x="508044" y="1316959"/>
            <a:ext cx="8127914" cy="4905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08157" y="294389"/>
            <a:ext cx="8127689" cy="681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18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587141" y="6403965"/>
            <a:ext cx="2041219" cy="1600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lang="en-GB" sz="960" b="1" kern="1200" smtClean="0">
                <a:solidFill>
                  <a:srgbClr val="A5A6A9"/>
                </a:solidFill>
                <a:latin typeface="Arial"/>
                <a:ea typeface="+mn-ea"/>
                <a:cs typeface="Arial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7025874"/>
      </p:ext>
    </p:extLst>
  </p:cSld>
  <p:clrMapOvr>
    <a:masterClrMapping/>
  </p:clrMapOvr>
  <p:hf sldNum="0"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LOG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61995" y="115188"/>
            <a:ext cx="8620012" cy="76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6" rIns="0" bIns="45726" numCol="1" anchor="ctr" anchorCtr="0" compatLnSpc="1">
            <a:prstTxWarp prst="textNoShape">
              <a:avLst/>
            </a:prstTxWarp>
          </a:bodyPr>
          <a:lstStyle>
            <a:lvl1pPr>
              <a:defRPr sz="2031" b="1"/>
            </a:lvl1pPr>
          </a:lstStyle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995" y="1556793"/>
            <a:ext cx="8620012" cy="4811185"/>
          </a:xfrm>
          <a:prstGeom prst="rect">
            <a:avLst/>
          </a:prstGeom>
        </p:spPr>
        <p:txBody>
          <a:bodyPr/>
          <a:lstStyle>
            <a:lvl1pPr marL="327004" indent="-327004">
              <a:buClr>
                <a:srgbClr val="000066"/>
              </a:buClr>
              <a:buSzPct val="100000"/>
              <a:buFont typeface="Wingdings" pitchFamily="2" charset="2"/>
              <a:buChar char="q"/>
              <a:defRPr sz="1108"/>
            </a:lvl1pPr>
            <a:lvl2pPr marL="623057" indent="-294708">
              <a:buClr>
                <a:srgbClr val="000066"/>
              </a:buClr>
              <a:buSzPct val="100000"/>
              <a:buFont typeface="Wingdings" pitchFamily="2" charset="2"/>
              <a:buChar char="§"/>
              <a:defRPr sz="1108"/>
            </a:lvl2pPr>
            <a:lvl3pPr marL="901617" indent="-277213">
              <a:buClr>
                <a:srgbClr val="000066"/>
              </a:buClr>
              <a:buSzPct val="100000"/>
              <a:buFont typeface="Wingdings" pitchFamily="2" charset="2"/>
              <a:buChar char="§"/>
              <a:defRPr sz="1108"/>
            </a:lvl3pPr>
            <a:lvl4pPr marL="1160614" indent="-257914">
              <a:buClr>
                <a:srgbClr val="000066"/>
              </a:buClr>
              <a:buSzPct val="100000"/>
              <a:buFont typeface="Wingdings" pitchFamily="2" charset="2"/>
              <a:buChar char="§"/>
              <a:defRPr sz="1108"/>
            </a:lvl4pPr>
            <a:lvl5pPr marL="1477145" indent="-300412">
              <a:buClr>
                <a:srgbClr val="000066"/>
              </a:buClr>
              <a:buSzPct val="100000"/>
              <a:buFont typeface="Wingdings" pitchFamily="2" charset="2"/>
              <a:buChar char="§"/>
              <a:defRPr sz="1108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 userDrawn="1"/>
        </p:nvSpPr>
        <p:spPr>
          <a:xfrm>
            <a:off x="6824607" y="6492875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A2FC5D7-B6CD-4B50-B4B9-1170CC1A65DC}" type="slidenum">
              <a:rPr lang="en-US" sz="800" smtClean="0"/>
              <a:pPr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769983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7697" y="2886593"/>
            <a:ext cx="6531930" cy="575939"/>
          </a:xfrm>
          <a:prstGeom prst="rect">
            <a:avLst/>
          </a:prstGeom>
        </p:spPr>
        <p:txBody>
          <a:bodyPr tIns="0" bIns="0" anchor="t"/>
          <a:lstStyle>
            <a:lvl1pPr>
              <a:defRPr sz="332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noProof="0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2803324"/>
            <a:ext cx="7039627" cy="742476"/>
          </a:xfrm>
          <a:prstGeom prst="rect">
            <a:avLst/>
          </a:prstGeom>
          <a:solidFill>
            <a:schemeClr val="tx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66"/>
              </a:solidFill>
              <a:effectLst/>
              <a:latin typeface="Verdana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5791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995" y="1556793"/>
            <a:ext cx="8620012" cy="4811185"/>
          </a:xfrm>
          <a:prstGeom prst="rect">
            <a:avLst/>
          </a:prstGeom>
        </p:spPr>
        <p:txBody>
          <a:bodyPr/>
          <a:lstStyle>
            <a:lvl1pPr marL="327004" indent="-327004" algn="l" defTabSz="500599" rtl="0" eaLnBrk="1" fontAlgn="base" hangingPunct="1">
              <a:lnSpc>
                <a:spcPct val="95000"/>
              </a:lnSpc>
              <a:spcAft>
                <a:spcPct val="0"/>
              </a:spcAft>
              <a:buClr>
                <a:srgbClr val="000066"/>
              </a:buClr>
              <a:buSzPct val="100000"/>
              <a:buFont typeface="Wingdings" pitchFamily="2" charset="2"/>
              <a:buChar char="q"/>
              <a:defRPr lang="en-US" sz="1108" dirty="0" smtClean="0">
                <a:solidFill>
                  <a:srgbClr val="000066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23057" indent="-294708" algn="l" defTabSz="500599" rtl="0" eaLnBrk="1" fontAlgn="base" hangingPunct="1">
              <a:lnSpc>
                <a:spcPct val="95000"/>
              </a:lnSpc>
              <a:spcAft>
                <a:spcPct val="0"/>
              </a:spcAft>
              <a:buClr>
                <a:srgbClr val="000066"/>
              </a:buClr>
              <a:buSzPct val="100000"/>
              <a:buFont typeface="Wingdings" pitchFamily="2" charset="2"/>
              <a:buChar char="§"/>
              <a:defRPr lang="en-US" sz="1108" dirty="0" smtClean="0">
                <a:solidFill>
                  <a:srgbClr val="000066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01617" indent="-277213" algn="l" defTabSz="500599" rtl="0" eaLnBrk="1" fontAlgn="base" hangingPunct="1">
              <a:lnSpc>
                <a:spcPct val="95000"/>
              </a:lnSpc>
              <a:spcAft>
                <a:spcPct val="0"/>
              </a:spcAft>
              <a:buClr>
                <a:srgbClr val="000066"/>
              </a:buClr>
              <a:buSzPct val="100000"/>
              <a:buFont typeface="Wingdings" pitchFamily="2" charset="2"/>
              <a:buChar char="§"/>
              <a:defRPr lang="en-US" sz="1108" dirty="0" smtClean="0">
                <a:solidFill>
                  <a:srgbClr val="000066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60614" indent="-257914" algn="l" defTabSz="500599" rtl="0" eaLnBrk="1" fontAlgn="base" hangingPunct="1">
              <a:lnSpc>
                <a:spcPct val="95000"/>
              </a:lnSpc>
              <a:spcAft>
                <a:spcPct val="0"/>
              </a:spcAft>
              <a:buClr>
                <a:srgbClr val="000066"/>
              </a:buClr>
              <a:buSzPct val="100000"/>
              <a:buFont typeface="Wingdings" pitchFamily="2" charset="2"/>
              <a:buChar char="§"/>
              <a:defRPr lang="en-US" sz="1108" dirty="0" smtClean="0">
                <a:solidFill>
                  <a:srgbClr val="000066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477145" indent="-263776" algn="l" defTabSz="500599" rtl="0" eaLnBrk="1" fontAlgn="base" hangingPunct="1">
              <a:lnSpc>
                <a:spcPct val="95000"/>
              </a:lnSpc>
              <a:spcAft>
                <a:spcPct val="0"/>
              </a:spcAft>
              <a:buClr>
                <a:srgbClr val="000066"/>
              </a:buClr>
              <a:buSzPct val="100000"/>
              <a:buFont typeface="Wingdings" pitchFamily="2" charset="2"/>
              <a:buChar char="§"/>
              <a:defRPr lang="en-US" sz="1108" dirty="0">
                <a:solidFill>
                  <a:srgbClr val="000066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61995" y="115188"/>
            <a:ext cx="6443605" cy="76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6" rIns="0" bIns="45726" numCol="1" anchor="ctr" anchorCtr="0" compatLnSpc="1">
            <a:prstTxWarp prst="textNoShape">
              <a:avLst/>
            </a:prstTxWarp>
          </a:bodyPr>
          <a:lstStyle>
            <a:lvl1pPr>
              <a:defRPr sz="2031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edit Master title style</a:t>
            </a:r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261995" y="6367978"/>
            <a:ext cx="862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Slide Number Placeholder 5"/>
          <p:cNvSpPr>
            <a:spLocks noGrp="1"/>
          </p:cNvSpPr>
          <p:nvPr userDrawn="1"/>
        </p:nvSpPr>
        <p:spPr>
          <a:xfrm>
            <a:off x="6824607" y="6492875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A2FC5D7-B6CD-4B50-B4B9-1170CC1A65DC}" type="slidenum">
              <a:rPr lang="en-US" sz="800" smtClean="0"/>
              <a:pPr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2701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8492613" y="6676809"/>
            <a:ext cx="465231" cy="180000"/>
          </a:xfrm>
          <a:prstGeom prst="rect">
            <a:avLst/>
          </a:prstGeom>
          <a:noFill/>
          <a:ln>
            <a:noFill/>
          </a:ln>
        </p:spPr>
        <p:txBody>
          <a:bodyPr wrap="none" lIns="33231" tIns="33231" rIns="33231" bIns="33231" rtlCol="0" anchor="ctr">
            <a:noAutofit/>
          </a:bodyPr>
          <a:lstStyle/>
          <a:p>
            <a:pPr algn="r"/>
            <a:r>
              <a:rPr lang="en-AU" sz="646" b="0" cap="all" baseline="0" dirty="0">
                <a:solidFill>
                  <a:schemeClr val="tx2"/>
                </a:solidFill>
              </a:rPr>
              <a:t>page </a:t>
            </a:r>
            <a:fld id="{98244388-90F9-497B-838B-A3C4647C218A}" type="slidenum">
              <a:rPr lang="en-AU" sz="646" b="0" cap="all" baseline="0" smtClean="0">
                <a:solidFill>
                  <a:schemeClr val="tx2"/>
                </a:solidFill>
              </a:rPr>
              <a:pPr algn="r"/>
              <a:t>‹#›</a:t>
            </a:fld>
            <a:endParaRPr lang="en-AU" sz="646" b="0" cap="all" baseline="0" dirty="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6781" y="6676809"/>
            <a:ext cx="2168769" cy="180000"/>
          </a:xfrm>
          <a:prstGeom prst="rect">
            <a:avLst/>
          </a:prstGeom>
          <a:noFill/>
        </p:spPr>
        <p:txBody>
          <a:bodyPr wrap="none" lIns="83077" tIns="33231" rIns="33231" bIns="33231" rtlCol="0" anchor="ctr">
            <a:noAutofit/>
          </a:bodyPr>
          <a:lstStyle/>
          <a:p>
            <a:pPr algn="l"/>
            <a:r>
              <a:rPr lang="en-AU" sz="646" b="0" cap="all" baseline="0" dirty="0">
                <a:solidFill>
                  <a:schemeClr val="tx2"/>
                </a:solidFill>
              </a:rPr>
              <a:t>STRICTLY CONFIDENTIAL </a:t>
            </a:r>
            <a:r>
              <a:rPr lang="en-AU" sz="646" b="0" cap="all" baseline="0" dirty="0">
                <a:solidFill>
                  <a:schemeClr val="tx2"/>
                </a:solidFill>
                <a:sym typeface="Symbol"/>
              </a:rPr>
              <a:t> </a:t>
            </a:r>
            <a:r>
              <a:rPr lang="en-AU" sz="646" b="1" cap="none" baseline="0" dirty="0">
                <a:solidFill>
                  <a:schemeClr val="tx2"/>
                </a:solidFill>
              </a:rPr>
              <a:t>For Internal Use Only</a:t>
            </a:r>
            <a:endParaRPr lang="en-AU" sz="646" b="0" cap="all" baseline="0" dirty="0">
              <a:solidFill>
                <a:schemeClr val="tx2"/>
              </a:solidFill>
            </a:endParaRPr>
          </a:p>
        </p:txBody>
      </p:sp>
      <p:sp>
        <p:nvSpPr>
          <p:cNvPr id="31" name="Title Placeholder 30"/>
          <p:cNvSpPr>
            <a:spLocks noGrp="1"/>
          </p:cNvSpPr>
          <p:nvPr>
            <p:ph type="title"/>
          </p:nvPr>
        </p:nvSpPr>
        <p:spPr>
          <a:xfrm>
            <a:off x="186156" y="-172535"/>
            <a:ext cx="6230769" cy="948266"/>
          </a:xfrm>
          <a:prstGeom prst="rect">
            <a:avLst/>
          </a:prstGeom>
          <a:ln>
            <a:noFill/>
          </a:ln>
        </p:spPr>
        <p:txBody>
          <a:bodyPr vert="horz" lIns="91440" tIns="36000" rIns="36000" bIns="36000" rtlCol="0" anchor="b" anchorCtr="0">
            <a:noAutofit/>
          </a:bodyPr>
          <a:lstStyle/>
          <a:p>
            <a:r>
              <a:rPr lang="en-AU" noProof="0" dirty="0"/>
              <a:t>Click to insert page title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"/>
            <a:ext cx="9138462" cy="6657973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923" dirty="0" err="1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 rotWithShape="1">
          <a:blip r:embed="rId7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48360" y="298176"/>
            <a:ext cx="1609484" cy="53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1662A2-F0B1-2360-4165-68C03098ED8C}"/>
              </a:ext>
            </a:extLst>
          </p:cNvPr>
          <p:cNvCxnSpPr/>
          <p:nvPr userDrawn="1"/>
        </p:nvCxnSpPr>
        <p:spPr>
          <a:xfrm>
            <a:off x="5538" y="995951"/>
            <a:ext cx="91384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72DDF8-B92A-2C7A-1785-2F9957F98044}"/>
              </a:ext>
            </a:extLst>
          </p:cNvPr>
          <p:cNvSpPr/>
          <p:nvPr userDrawn="1"/>
        </p:nvSpPr>
        <p:spPr>
          <a:xfrm>
            <a:off x="522934" y="916693"/>
            <a:ext cx="1907752" cy="1364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/>
          <a:lstStyle/>
          <a:p>
            <a:pPr algn="ctr"/>
            <a:endParaRPr lang="en-PH" sz="1000" dirty="0" err="1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C92C4-8CC0-F654-997E-5A0C97BC0D32}"/>
              </a:ext>
            </a:extLst>
          </p:cNvPr>
          <p:cNvPicPr>
            <a:picLocks noChangeAspect="1"/>
          </p:cNvPicPr>
          <p:nvPr userDrawn="1"/>
        </p:nvPicPr>
        <p:blipFill>
          <a:blip r:embed="rId74"/>
          <a:srcRect r="44806"/>
          <a:stretch/>
        </p:blipFill>
        <p:spPr>
          <a:xfrm>
            <a:off x="7394036" y="6132672"/>
            <a:ext cx="1563808" cy="51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0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  <p:sldLayoutId id="2147483743" r:id="rId63"/>
    <p:sldLayoutId id="2147483744" r:id="rId64"/>
    <p:sldLayoutId id="2147483745" r:id="rId65"/>
    <p:sldLayoutId id="2147483746" r:id="rId66"/>
    <p:sldLayoutId id="2147483747" r:id="rId67"/>
    <p:sldLayoutId id="2147483748" r:id="rId68"/>
    <p:sldLayoutId id="2147483750" r:id="rId69"/>
    <p:sldLayoutId id="2147483751" r:id="rId70"/>
    <p:sldLayoutId id="2147483752" r:id="rId71"/>
  </p:sldLayoutIdLst>
  <p:hf hdr="0" ftr="0" dt="0"/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2400" kern="1200" cap="none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0" indent="0" algn="l" defTabSz="844083" rtl="0" eaLnBrk="1" latinLnBrk="0" hangingPunct="1">
        <a:spcBef>
          <a:spcPts val="0"/>
        </a:spcBef>
        <a:spcAft>
          <a:spcPts val="554"/>
        </a:spcAft>
        <a:buClr>
          <a:schemeClr val="accent3"/>
        </a:buClr>
        <a:buSzPct val="80000"/>
        <a:buFont typeface="Wingdings" pitchFamily="2" charset="2"/>
        <a:buNone/>
        <a:defRPr sz="923" kern="1200">
          <a:solidFill>
            <a:schemeClr val="tx1"/>
          </a:solidFill>
          <a:latin typeface="+mn-lt"/>
          <a:ea typeface="+mn-ea"/>
          <a:cs typeface="+mn-cs"/>
        </a:defRPr>
      </a:lvl1pPr>
      <a:lvl2pPr marL="167058" indent="-167058" algn="l" defTabSz="844083" rtl="0" eaLnBrk="1" latinLnBrk="0" hangingPunct="1">
        <a:spcBef>
          <a:spcPts val="0"/>
        </a:spcBef>
        <a:spcAft>
          <a:spcPts val="554"/>
        </a:spcAft>
        <a:buClr>
          <a:srgbClr val="002060"/>
        </a:buClr>
        <a:buSzPct val="85000"/>
        <a:buFont typeface="Wingdings" pitchFamily="2" charset="2"/>
        <a:buChar char=""/>
        <a:defRPr sz="923" kern="1200">
          <a:solidFill>
            <a:schemeClr val="tx1"/>
          </a:solidFill>
          <a:latin typeface="+mn-lt"/>
          <a:ea typeface="+mn-ea"/>
          <a:cs typeface="+mn-cs"/>
        </a:defRPr>
      </a:lvl2pPr>
      <a:lvl3pPr marL="334116" indent="-167058" algn="l" defTabSz="844083" rtl="0" eaLnBrk="1" latinLnBrk="0" hangingPunct="1">
        <a:spcBef>
          <a:spcPts val="0"/>
        </a:spcBef>
        <a:spcAft>
          <a:spcPts val="554"/>
        </a:spcAft>
        <a:buClr>
          <a:schemeClr val="tx1"/>
        </a:buClr>
        <a:buSzPct val="120000"/>
        <a:buFont typeface="HelveticaNeue LT 45 Lt" pitchFamily="34" charset="0"/>
        <a:buChar char="—"/>
        <a:defRPr sz="923" kern="1200">
          <a:solidFill>
            <a:schemeClr val="tx1"/>
          </a:solidFill>
          <a:latin typeface="+mn-lt"/>
          <a:ea typeface="+mn-ea"/>
          <a:cs typeface="+mn-cs"/>
        </a:defRPr>
      </a:lvl3pPr>
      <a:lvl4pPr marL="501174" indent="-167058" algn="l" defTabSz="844083" rtl="0" eaLnBrk="1" latinLnBrk="0" hangingPunct="1">
        <a:spcBef>
          <a:spcPts val="0"/>
        </a:spcBef>
        <a:spcAft>
          <a:spcPts val="554"/>
        </a:spcAft>
        <a:buClr>
          <a:schemeClr val="tx1"/>
        </a:buClr>
        <a:buSzPct val="120000"/>
        <a:buFont typeface="HelveticaNeue LT 45 Lt" pitchFamily="34" charset="0"/>
        <a:buChar char="—"/>
        <a:defRPr sz="923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ts val="0"/>
        </a:spcBef>
        <a:spcAft>
          <a:spcPts val="332"/>
        </a:spcAft>
        <a:buFont typeface="Calibri" pitchFamily="34" charset="0"/>
        <a:buChar char="—"/>
        <a:defRPr sz="923" kern="1200">
          <a:solidFill>
            <a:srgbClr val="4D4F53"/>
          </a:solidFill>
          <a:latin typeface="HelveticaNeue LT 45 Lt" pitchFamily="34" charset="0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68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68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4E9780-9300-170F-1BAC-7D6078C62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395" y="2021841"/>
            <a:ext cx="7336285" cy="892710"/>
          </a:xfrm>
        </p:spPr>
        <p:txBody>
          <a:bodyPr/>
          <a:lstStyle/>
          <a:p>
            <a:r>
              <a:rPr lang="en-US" b="1" dirty="0"/>
              <a:t>October 2025 (CY 4) Weekly Report</a:t>
            </a:r>
            <a:br>
              <a:rPr lang="en-US" b="1" dirty="0"/>
            </a:br>
            <a:endParaRPr lang="en-PH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02C904-56D0-9D7C-288F-57FA14544C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395" y="2518749"/>
            <a:ext cx="5200615" cy="426282"/>
          </a:xfrm>
        </p:spPr>
        <p:txBody>
          <a:bodyPr/>
          <a:lstStyle/>
          <a:p>
            <a:r>
              <a:rPr lang="en-US" b="1" dirty="0" err="1"/>
              <a:t>Polomolok</a:t>
            </a:r>
            <a:r>
              <a:rPr lang="en-US" b="1" dirty="0"/>
              <a:t> Biogas Plant</a:t>
            </a:r>
          </a:p>
          <a:p>
            <a:endParaRPr lang="en-PH" b="1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39D16A1-033B-1DB9-DB0C-E8B6D05C0127}"/>
              </a:ext>
            </a:extLst>
          </p:cNvPr>
          <p:cNvSpPr txBox="1">
            <a:spLocks/>
          </p:cNvSpPr>
          <p:nvPr/>
        </p:nvSpPr>
        <p:spPr>
          <a:xfrm>
            <a:off x="517394" y="3112235"/>
            <a:ext cx="5200615" cy="864000"/>
          </a:xfrm>
          <a:prstGeom prst="rect">
            <a:avLst/>
          </a:prstGeom>
          <a:ln w="3175">
            <a:noFill/>
          </a:ln>
        </p:spPr>
        <p:txBody>
          <a:bodyPr vert="horz" lIns="91440" tIns="36000" rIns="36000" bIns="36000" rtlCol="0">
            <a:noAutofit/>
          </a:bodyPr>
          <a:lstStyle>
            <a:lvl1pPr marL="0" indent="0" algn="l" defTabSz="84408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54"/>
              </a:spcAft>
              <a:buClr>
                <a:schemeClr val="accent3"/>
              </a:buClr>
              <a:buSzPct val="80000"/>
              <a:buFont typeface="Wingdings" pitchFamily="2" charset="2"/>
              <a:buNone/>
              <a:defRPr sz="2215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67058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rgbClr val="002060"/>
              </a:buClr>
              <a:buSzPct val="85000"/>
              <a:buFont typeface="Wingdings" pitchFamily="2" charset="2"/>
              <a:buChar char=""/>
              <a:defRPr sz="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34116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tx1"/>
              </a:buClr>
              <a:buSzPct val="120000"/>
              <a:buFont typeface="HelveticaNeue LT 45 Lt" pitchFamily="34" charset="0"/>
              <a:buChar char="—"/>
              <a:defRPr sz="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1174" indent="-167058" algn="l" defTabSz="844083" rtl="0" eaLnBrk="1" latinLnBrk="0" hangingPunct="1">
              <a:spcBef>
                <a:spcPts val="0"/>
              </a:spcBef>
              <a:spcAft>
                <a:spcPts val="554"/>
              </a:spcAft>
              <a:buClr>
                <a:schemeClr val="tx1"/>
              </a:buClr>
              <a:buSzPct val="120000"/>
              <a:buFont typeface="HelveticaNeue LT 45 Lt" pitchFamily="34" charset="0"/>
              <a:buChar char="—"/>
              <a:defRPr sz="92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0" hangingPunct="1">
              <a:spcBef>
                <a:spcPts val="0"/>
              </a:spcBef>
              <a:spcAft>
                <a:spcPts val="332"/>
              </a:spcAft>
              <a:buFont typeface="Calibri" pitchFamily="34" charset="0"/>
              <a:buChar char="—"/>
              <a:defRPr sz="923" kern="1200">
                <a:solidFill>
                  <a:srgbClr val="4D4F53"/>
                </a:solidFill>
                <a:latin typeface="HelveticaNeue LT 45 Lt" pitchFamily="34" charset="0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October 1-31, 2025</a:t>
            </a:r>
          </a:p>
        </p:txBody>
      </p:sp>
    </p:spTree>
    <p:extLst>
      <p:ext uri="{BB962C8B-B14F-4D97-AF65-F5344CB8AC3E}">
        <p14:creationId xmlns:p14="http://schemas.microsoft.com/office/powerpoint/2010/main" val="185564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1A5DB7-641B-883F-78B6-2F7EF6BC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Substrate Supply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1D3D3E-2CE1-33E6-21E0-F370A98B0848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B80D1-32FB-F6DE-2710-E3C6E40E89B9}"/>
              </a:ext>
            </a:extLst>
          </p:cNvPr>
          <p:cNvSpPr txBox="1"/>
          <p:nvPr/>
        </p:nvSpPr>
        <p:spPr>
          <a:xfrm>
            <a:off x="6776858" y="1889981"/>
            <a:ext cx="2367142" cy="41533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sz="1200" b="1" i="1" dirty="0">
                <a:solidFill>
                  <a:schemeClr val="tx1"/>
                </a:solidFill>
              </a:rPr>
              <a:t>CY4 Delivered:   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Oct: 35% of monthly minimum SCA </a:t>
            </a:r>
            <a:r>
              <a:rPr lang="en-US" sz="1200" dirty="0" err="1">
                <a:solidFill>
                  <a:schemeClr val="tx1"/>
                </a:solidFill>
              </a:rPr>
              <a:t>reqt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YTD: 33% annual minimum guaranty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9AFC6D6-E63A-4C10-9194-A0DC240032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499712"/>
              </p:ext>
            </p:extLst>
          </p:nvPr>
        </p:nvGraphicFramePr>
        <p:xfrm>
          <a:off x="425171" y="2440473"/>
          <a:ext cx="5900984" cy="47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AC413E9-879C-B9FC-7AAD-2B6132478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285058"/>
              </p:ext>
            </p:extLst>
          </p:nvPr>
        </p:nvGraphicFramePr>
        <p:xfrm>
          <a:off x="0" y="1176671"/>
          <a:ext cx="5900984" cy="12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90929" imgH="921886" progId="Excel.Sheet.12">
                  <p:embed/>
                </p:oleObj>
              </mc:Choice>
              <mc:Fallback>
                <p:oleObj name="Worksheet" r:id="rId3" imgW="4190929" imgH="9218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176671"/>
                        <a:ext cx="5900984" cy="129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23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DA91-73E8-F4D9-B437-A16E065C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C60FC7-36FD-92AF-2DF6-B3621A32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Biogas Conversion (Yield)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07F174-0EBC-CBEF-67EF-6B24E767122B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888B82E-305A-43AA-B86F-8B0527B4AD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4497657"/>
              </p:ext>
            </p:extLst>
          </p:nvPr>
        </p:nvGraphicFramePr>
        <p:xfrm>
          <a:off x="1064099" y="1033328"/>
          <a:ext cx="6455963" cy="5999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729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C04B-DAD0-69FB-0C31-5F87C8E5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88B50A-BA8D-4A70-79A2-D4612923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Biogas Conversion (Yield)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39F7EF-D3F2-9E0D-D15B-A6CB86FFFA40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B88C541-2AA5-5CC6-C9B3-DD1D3E2F80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002257"/>
              </p:ext>
            </p:extLst>
          </p:nvPr>
        </p:nvGraphicFramePr>
        <p:xfrm>
          <a:off x="230866" y="1033327"/>
          <a:ext cx="8614553" cy="5600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198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8559-B828-5DD8-218E-6D016D7F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9D4E4A-EE05-603B-6F1B-4B6B2C24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Biogas Utilization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BBA048-97CD-3FEE-6BB1-EA301A12FC4C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FF926-C178-32FA-A080-AF2367B0047F}"/>
              </a:ext>
            </a:extLst>
          </p:cNvPr>
          <p:cNvSpPr txBox="1"/>
          <p:nvPr/>
        </p:nvSpPr>
        <p:spPr>
          <a:xfrm>
            <a:off x="6691798" y="2968443"/>
            <a:ext cx="2367142" cy="273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sz="1200" b="1" i="1" dirty="0">
                <a:solidFill>
                  <a:schemeClr val="tx1"/>
                </a:solidFill>
              </a:rPr>
              <a:t>CY4 Delivered:</a:t>
            </a:r>
          </a:p>
          <a:p>
            <a:r>
              <a:rPr lang="en-US" sz="1200" b="1" i="1" dirty="0">
                <a:solidFill>
                  <a:schemeClr val="tx1"/>
                </a:solidFill>
              </a:rPr>
              <a:t>   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Oct: 37% of monthly minimum SCA </a:t>
            </a:r>
            <a:r>
              <a:rPr lang="en-US" sz="1200" dirty="0" err="1">
                <a:solidFill>
                  <a:schemeClr val="tx1"/>
                </a:solidFill>
              </a:rPr>
              <a:t>reqt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YTD: 32% annual minimum guaranty</a:t>
            </a:r>
          </a:p>
          <a:p>
            <a:r>
              <a:rPr lang="en-US" sz="1200" i="1" dirty="0">
                <a:solidFill>
                  <a:schemeClr val="tx1"/>
                </a:solidFill>
              </a:rPr>
              <a:t> 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48C9A5-3A53-AF1F-826F-5A0F0AF7D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430506"/>
              </p:ext>
            </p:extLst>
          </p:nvPr>
        </p:nvGraphicFramePr>
        <p:xfrm>
          <a:off x="508155" y="1198101"/>
          <a:ext cx="5829420" cy="1441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90929" imgH="1036162" progId="Excel.Sheet.12">
                  <p:embed/>
                </p:oleObj>
              </mc:Choice>
              <mc:Fallback>
                <p:oleObj name="Worksheet" r:id="rId2" imgW="4190929" imgH="103616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8155" y="1198101"/>
                        <a:ext cx="5829420" cy="1441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DE3752A-058D-45D7-BE3C-96EE0F74A6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5781670"/>
              </p:ext>
            </p:extLst>
          </p:nvPr>
        </p:nvGraphicFramePr>
        <p:xfrm>
          <a:off x="508155" y="2465176"/>
          <a:ext cx="5829420" cy="5307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611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04E1-BBDD-8CA6-1067-2D30FC46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46628-9CD2-8273-A4E4-9B870C501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Power Generation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E142ED-807A-A75E-2752-E625EB7B5BCA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BAE77-B830-75E7-A1F0-F5A3336D683D}"/>
              </a:ext>
            </a:extLst>
          </p:cNvPr>
          <p:cNvSpPr txBox="1"/>
          <p:nvPr/>
        </p:nvSpPr>
        <p:spPr>
          <a:xfrm>
            <a:off x="6691798" y="2968443"/>
            <a:ext cx="2367142" cy="273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sz="1200" b="1" i="1" dirty="0">
                <a:solidFill>
                  <a:schemeClr val="tx1"/>
                </a:solidFill>
              </a:rPr>
              <a:t>Y4 Delivered:</a:t>
            </a:r>
          </a:p>
          <a:p>
            <a:r>
              <a:rPr lang="en-US" sz="1200" b="1" i="1" dirty="0">
                <a:solidFill>
                  <a:schemeClr val="tx1"/>
                </a:solidFill>
              </a:rPr>
              <a:t>   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Oct: 17% of monthly minimum SCA </a:t>
            </a:r>
            <a:r>
              <a:rPr lang="en-US" sz="1200" dirty="0" err="1">
                <a:solidFill>
                  <a:schemeClr val="tx1"/>
                </a:solidFill>
              </a:rPr>
              <a:t>reqt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YTD: 30% annual minimum guaranty</a:t>
            </a:r>
          </a:p>
          <a:p>
            <a:r>
              <a:rPr lang="en-US" sz="1200" i="1" dirty="0">
                <a:solidFill>
                  <a:schemeClr val="tx1"/>
                </a:solidFill>
              </a:rPr>
              <a:t> 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76CC8E3-FDE6-48A2-C965-8F76F375D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110575"/>
              </p:ext>
            </p:extLst>
          </p:nvPr>
        </p:nvGraphicFramePr>
        <p:xfrm>
          <a:off x="508155" y="1190520"/>
          <a:ext cx="6051262" cy="133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90929" imgH="921886" progId="Excel.Sheet.12">
                  <p:embed/>
                </p:oleObj>
              </mc:Choice>
              <mc:Fallback>
                <p:oleObj name="Worksheet" r:id="rId2" imgW="4190929" imgH="9218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8155" y="1190520"/>
                        <a:ext cx="6051262" cy="1331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EED0803-AA19-43AC-8B86-66BF580889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4933022"/>
              </p:ext>
            </p:extLst>
          </p:nvPr>
        </p:nvGraphicFramePr>
        <p:xfrm>
          <a:off x="683632" y="2522255"/>
          <a:ext cx="5427919" cy="4130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9530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00B0E-ECF9-12C7-2E6A-18B81E30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900230-D683-49CA-C24C-869E7AAF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Oct Wk5 Updates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EDB6A72-9281-A6AD-DD1B-BFF467B487D8}"/>
              </a:ext>
            </a:extLst>
          </p:cNvPr>
          <p:cNvSpPr txBox="1"/>
          <p:nvPr/>
        </p:nvSpPr>
        <p:spPr>
          <a:xfrm rot="10800000" flipH="1" flipV="1">
            <a:off x="378518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E4341-A6FD-8A42-EA36-962596F4302C}"/>
              </a:ext>
            </a:extLst>
          </p:cNvPr>
          <p:cNvSpPr txBox="1"/>
          <p:nvPr/>
        </p:nvSpPr>
        <p:spPr>
          <a:xfrm>
            <a:off x="97494" y="1183495"/>
            <a:ext cx="8667988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PH" sz="1400" dirty="0"/>
              <a:t>4 out of 6 canning days for this week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PH" sz="1400" dirty="0"/>
              <a:t>Fresh mass feeding is at 327-364 MT per day.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PH" sz="1400" dirty="0"/>
              <a:t>Gas production is averaging at 1250 Nm3/</a:t>
            </a:r>
            <a:r>
              <a:rPr lang="en-PH" sz="1400" dirty="0" err="1"/>
              <a:t>hr</a:t>
            </a:r>
            <a:endParaRPr lang="en-PH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PH" sz="1400" dirty="0"/>
              <a:t>Gas Quality: US : CH4 – 52.2%     CO2 – 45.9%     O2 – 0.0%     H2S – 0ppm</a:t>
            </a:r>
          </a:p>
          <a:p>
            <a:pPr>
              <a:lnSpc>
                <a:spcPct val="150000"/>
              </a:lnSpc>
            </a:pPr>
            <a:r>
              <a:rPr lang="en-PH" sz="1400" dirty="0"/>
              <a:t>	        DS : CH4 – 53.0%     CO2 – 46.7%     O2 – 0.0%     H2S – 0ppm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7475AF-07C3-88FB-3A51-D90073C98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12296"/>
              </p:ext>
            </p:extLst>
          </p:nvPr>
        </p:nvGraphicFramePr>
        <p:xfrm>
          <a:off x="678101" y="3114397"/>
          <a:ext cx="62090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187">
                  <a:extLst>
                    <a:ext uri="{9D8B030D-6E8A-4147-A177-3AD203B41FA5}">
                      <a16:colId xmlns:a16="http://schemas.microsoft.com/office/drawing/2014/main" val="2008530590"/>
                    </a:ext>
                  </a:extLst>
                </a:gridCol>
                <a:gridCol w="1907954">
                  <a:extLst>
                    <a:ext uri="{9D8B030D-6E8A-4147-A177-3AD203B41FA5}">
                      <a16:colId xmlns:a16="http://schemas.microsoft.com/office/drawing/2014/main" val="631794401"/>
                    </a:ext>
                  </a:extLst>
                </a:gridCol>
                <a:gridCol w="1907954">
                  <a:extLst>
                    <a:ext uri="{9D8B030D-6E8A-4147-A177-3AD203B41FA5}">
                      <a16:colId xmlns:a16="http://schemas.microsoft.com/office/drawing/2014/main" val="630354054"/>
                    </a:ext>
                  </a:extLst>
                </a:gridCol>
              </a:tblGrid>
              <a:tr h="36489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Fermenters</a:t>
                      </a:r>
                    </a:p>
                    <a:p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pH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(7.00 – 7.50)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FOS/TAC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(0.3 – 0.5)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683413"/>
                  </a:ext>
                </a:extLst>
              </a:tr>
              <a:tr h="21893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933423"/>
                  </a:ext>
                </a:extLst>
              </a:tr>
              <a:tr h="21893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F2</a:t>
                      </a:r>
                      <a:endParaRPr lang="en-PH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7.10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0.13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59460"/>
                  </a:ext>
                </a:extLst>
              </a:tr>
              <a:tr h="21893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F3</a:t>
                      </a:r>
                      <a:endParaRPr lang="en-PH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7.13</a:t>
                      </a:r>
                      <a:endParaRPr lang="en-P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0.21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7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07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31C6-9AC7-698D-7BC8-3B9A3A46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075277-C0F2-1A1A-0E74-19C3CE85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5" y="351433"/>
            <a:ext cx="8127689" cy="681895"/>
          </a:xfrm>
        </p:spPr>
        <p:txBody>
          <a:bodyPr/>
          <a:lstStyle/>
          <a:p>
            <a:r>
              <a:rPr lang="en-PH" b="1" dirty="0"/>
              <a:t>Revenue Tracking</a:t>
            </a:r>
            <a:endParaRPr lang="en-PH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EDE6C1-8618-4C1A-BA40-999F8C1A19EA}"/>
              </a:ext>
            </a:extLst>
          </p:cNvPr>
          <p:cNvSpPr txBox="1"/>
          <p:nvPr/>
        </p:nvSpPr>
        <p:spPr>
          <a:xfrm rot="10800000" flipH="1" flipV="1">
            <a:off x="425171" y="835209"/>
            <a:ext cx="2381256" cy="396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 anchorCtr="0">
            <a:noAutofit/>
          </a:bodyPr>
          <a:lstStyle/>
          <a:p>
            <a:endParaRPr lang="en-PH" sz="1200" dirty="0" err="1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99634-E92C-46AD-2CA9-F8FB6D712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067579"/>
            <a:ext cx="8202170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69384"/>
      </p:ext>
    </p:extLst>
  </p:cSld>
  <p:clrMapOvr>
    <a:masterClrMapping/>
  </p:clrMapOvr>
</p:sld>
</file>

<file path=ppt/theme/theme1.xml><?xml version="1.0" encoding="utf-8"?>
<a:theme xmlns:a="http://schemas.openxmlformats.org/drawingml/2006/main" name="Print A4 Image">
  <a:themeElements>
    <a:clrScheme name="MAC Blue_Orange">
      <a:dk1>
        <a:srgbClr val="333333"/>
      </a:dk1>
      <a:lt1>
        <a:srgbClr val="FFFFFF"/>
      </a:lt1>
      <a:dk2>
        <a:srgbClr val="828386"/>
      </a:dk2>
      <a:lt2>
        <a:srgbClr val="FFFFFF"/>
      </a:lt2>
      <a:accent1>
        <a:srgbClr val="00558A"/>
      </a:accent1>
      <a:accent2>
        <a:srgbClr val="00A1E0"/>
      </a:accent2>
      <a:accent3>
        <a:srgbClr val="C7EAF8"/>
      </a:accent3>
      <a:accent4>
        <a:srgbClr val="F7941E"/>
      </a:accent4>
      <a:accent5>
        <a:srgbClr val="5E6162"/>
      </a:accent5>
      <a:accent6>
        <a:srgbClr val="9E9FA1"/>
      </a:accent6>
      <a:hlink>
        <a:srgbClr val="333333"/>
      </a:hlink>
      <a:folHlink>
        <a:srgbClr val="333333"/>
      </a:folHlink>
    </a:clrScheme>
    <a:fontScheme name="MACCAP Globa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wrap="square" lIns="36000" tIns="36000" rIns="36000" bIns="36000" rtlCol="0" anchor="ctr" anchorCtr="0"/>
      <a:lstStyle>
        <a:defPPr algn="ctr">
          <a:defRPr sz="10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7A8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36000" tIns="36000" rIns="36000" bIns="36000" rtlCol="0" anchor="ctr" anchorCtr="0">
        <a:noAutofit/>
      </a:bodyPr>
      <a:lstStyle>
        <a:defPPr algn="ctr">
          <a:defRPr sz="1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Print A4 Image.potx" id="{80AC0F67-C66C-47CD-B6EA-31E574667A3E}" vid="{1A271FB6-F36B-4E04-8499-39F1D3CDCC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5eb793-e3c8-4796-a60e-7c80e11f57f5">
      <Terms xmlns="http://schemas.microsoft.com/office/infopath/2007/PartnerControls"/>
    </lcf76f155ced4ddcb4097134ff3c332f>
    <TaxCatchAll xmlns="33399894-2864-40ab-a8d8-245a5ff1a870" xsi:nil="true"/>
    <Duedate xmlns="745eb793-e3c8-4796-a60e-7c80e11f57f5">2023-08-23T08:22:20+00:00</Duedate>
    <Status xmlns="745eb793-e3c8-4796-a60e-7c80e11f57f5">Submitted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FB717ED2C6F47B3F53CA4212D3DBF" ma:contentTypeVersion="26" ma:contentTypeDescription="Create a new document." ma:contentTypeScope="" ma:versionID="6bb4b9f6a4dd857272dfb69911b2012a">
  <xsd:schema xmlns:xsd="http://www.w3.org/2001/XMLSchema" xmlns:xs="http://www.w3.org/2001/XMLSchema" xmlns:p="http://schemas.microsoft.com/office/2006/metadata/properties" xmlns:ns2="745eb793-e3c8-4796-a60e-7c80e11f57f5" xmlns:ns3="33399894-2864-40ab-a8d8-245a5ff1a870" targetNamespace="http://schemas.microsoft.com/office/2006/metadata/properties" ma:root="true" ma:fieldsID="a05cd6ab1a30a538334a4bc062e151e5" ns2:_="" ns3:_="">
    <xsd:import namespace="745eb793-e3c8-4796-a60e-7c80e11f57f5"/>
    <xsd:import namespace="33399894-2864-40ab-a8d8-245a5ff1a8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lcf76f155ced4ddcb4097134ff3c332f" minOccurs="0"/>
                <xsd:element ref="ns2:Status"/>
                <xsd:element ref="ns2:Duedate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5eb793-e3c8-4796-a60e-7c80e11f5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092d835-7a44-4ae7-921a-15a2b649f7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Status" ma:index="24" ma:displayName="Status" ma:default="Submitted" ma:format="RadioButtons" ma:internalName="Status">
      <xsd:simpleType>
        <xsd:restriction base="dms:Choice">
          <xsd:enumeration value="Submitted"/>
          <xsd:enumeration value="Requested"/>
        </xsd:restriction>
      </xsd:simpleType>
    </xsd:element>
    <xsd:element name="Duedate" ma:index="25" ma:displayName="Due date" ma:default="[today]" ma:format="DateOnly" ma:internalName="Duedate">
      <xsd:simpleType>
        <xsd:restriction base="dms:DateTim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99894-2864-40ab-a8d8-245a5ff1a87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a98746c-d62a-4f18-8263-fa20a138df25}" ma:internalName="TaxCatchAll" ma:showField="CatchAllData" ma:web="33399894-2864-40ab-a8d8-245a5ff1a8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C26B77-2CDD-4C74-9F3D-229B6A38CF14}">
  <ds:schemaRefs>
    <ds:schemaRef ds:uri="http://schemas.openxmlformats.org/package/2006/metadata/core-properties"/>
    <ds:schemaRef ds:uri="745eb793-e3c8-4796-a60e-7c80e11f57f5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33399894-2864-40ab-a8d8-245a5ff1a870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4C2A50B-F321-45AE-B9A9-76B92B5FB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5eb793-e3c8-4796-a60e-7c80e11f57f5"/>
    <ds:schemaRef ds:uri="33399894-2864-40ab-a8d8-245a5ff1a8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63F53A-AF83-4653-A920-497084CE54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58022</TotalTime>
  <Words>221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PGothic</vt:lpstr>
      <vt:lpstr>Arial</vt:lpstr>
      <vt:lpstr>Calibri</vt:lpstr>
      <vt:lpstr>HelveticaNeue LT 45 Lt</vt:lpstr>
      <vt:lpstr>Verdana</vt:lpstr>
      <vt:lpstr>Wingdings</vt:lpstr>
      <vt:lpstr>Print A4 Image</vt:lpstr>
      <vt:lpstr>Microsoft Excel Worksheet</vt:lpstr>
      <vt:lpstr>PowerPoint Presentation</vt:lpstr>
      <vt:lpstr>Substrate Supply</vt:lpstr>
      <vt:lpstr>Biogas Conversion (Yield)</vt:lpstr>
      <vt:lpstr>Biogas Conversion (Yield)</vt:lpstr>
      <vt:lpstr>Biogas Utilization</vt:lpstr>
      <vt:lpstr>Power Generation</vt:lpstr>
      <vt:lpstr>Oct Wk5 Updates</vt:lpstr>
      <vt:lpstr>Revenue 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Blackbird</dc:title>
  <dc:creator>Jason Rafael I. Karaan</dc:creator>
  <cp:lastModifiedBy>Bryl Dolor</cp:lastModifiedBy>
  <cp:revision>1651</cp:revision>
  <cp:lastPrinted>2019-08-09T05:33:13Z</cp:lastPrinted>
  <dcterms:created xsi:type="dcterms:W3CDTF">2015-08-05T09:47:33Z</dcterms:created>
  <dcterms:modified xsi:type="dcterms:W3CDTF">2025-11-04T06:06:46Z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0x010100784FB717ED2C6F47B3F53CA4212D3DBF</vt:lpwstr>
  </property>
  <property fmtid="{D5CDD505-2E9C-101B-9397-08002B2CF9AE}" pid="3" name="MSIP_Label_d0d06dff-deaf-4417-97ca-837e46d1737c_Enabled">
    <vt:lpwstr>true</vt:lpwstr>
  </property>
  <property fmtid="{D5CDD505-2E9C-101B-9397-08002B2CF9AE}" pid="4" name="MSIP_Label_d0d06dff-deaf-4417-97ca-837e46d1737c_SetDate">
    <vt:lpwstr>2023-06-08T10:41:03Z</vt:lpwstr>
  </property>
  <property fmtid="{D5CDD505-2E9C-101B-9397-08002B2CF9AE}" pid="5" name="MSIP_Label_d0d06dff-deaf-4417-97ca-837e46d1737c_Method">
    <vt:lpwstr>Standard</vt:lpwstr>
  </property>
  <property fmtid="{D5CDD505-2E9C-101B-9397-08002B2CF9AE}" pid="6" name="MSIP_Label_d0d06dff-deaf-4417-97ca-837e46d1737c_Name">
    <vt:lpwstr>General</vt:lpwstr>
  </property>
  <property fmtid="{D5CDD505-2E9C-101B-9397-08002B2CF9AE}" pid="7" name="MSIP_Label_d0d06dff-deaf-4417-97ca-837e46d1737c_SiteId">
    <vt:lpwstr>357ede74-f5c2-42d3-8541-b109a2049c3d</vt:lpwstr>
  </property>
  <property fmtid="{D5CDD505-2E9C-101B-9397-08002B2CF9AE}" pid="8" name="MSIP_Label_d0d06dff-deaf-4417-97ca-837e46d1737c_ActionId">
    <vt:lpwstr>4fae1a14-9f2d-4703-81d7-11ca8c2219f0</vt:lpwstr>
  </property>
  <property fmtid="{D5CDD505-2E9C-101B-9397-08002B2CF9AE}" pid="9" name="MSIP_Label_d0d06dff-deaf-4417-97ca-837e46d1737c_ContentBits">
    <vt:lpwstr>0</vt:lpwstr>
  </property>
  <property fmtid="{D5CDD505-2E9C-101B-9397-08002B2CF9AE}" pid="10" name="MediaServiceImageTags">
    <vt:lpwstr/>
  </property>
</Properties>
</file>